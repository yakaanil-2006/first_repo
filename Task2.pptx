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Prata" charset="1" panose="00000500000000000000"/>
      <p:regular r:id="rId18"/>
    </p:embeddedFont>
    <p:embeddedFont>
      <p:font typeface="Arimo" charset="1" panose="020B0604020202020204"/>
      <p:regular r:id="rId20"/>
    </p:embeddedFont>
    <p:embeddedFont>
      <p:font typeface="Arimo Bold" charset="1" panose="020B0704020202020204"/>
      <p:regular r:id="rId21"/>
    </p:embeddedFont>
    <p:embeddedFont>
      <p:font typeface="Consolas" charset="1" panose="020B0609020204030204"/>
      <p:regular r:id="rId23"/>
    </p:embeddedFont>
    <p:embeddedFont>
      <p:font typeface="Consolas Bold" charset="1" panose="020B070902020403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3.xml" Type="http://schemas.openxmlformats.org/officeDocument/2006/relationships/notesSlide"/><Relationship Id="rId23" Target="fonts/font23.fntdata" Type="http://schemas.openxmlformats.org/officeDocument/2006/relationships/font"/><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fonts/font28.fntdata" Type="http://schemas.openxmlformats.org/officeDocument/2006/relationships/font"/><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png" Type="http://schemas.openxmlformats.org/officeDocument/2006/relationships/image"/><Relationship Id="rId2" Target="../notesSlides/notesSlide9.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3171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12326"/>
            </a:solidFill>
            <a:ln w="12700">
              <a:solidFill>
                <a:srgbClr val="000000"/>
              </a:solidFill>
            </a:ln>
          </p:spPr>
        </p:sp>
      </p:grpSp>
      <p:grpSp>
        <p:nvGrpSpPr>
          <p:cNvPr name="Group 6" id="6"/>
          <p:cNvGrpSpPr>
            <a:grpSpLocks noChangeAspect="true"/>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50237" y="4349354"/>
            <a:ext cx="9445526" cy="1569244"/>
          </a:xfrm>
          <a:prstGeom prst="rect">
            <a:avLst/>
          </a:prstGeom>
        </p:spPr>
        <p:txBody>
          <a:bodyPr anchor="t" rtlCol="false" tIns="0" lIns="0" bIns="0" rIns="0">
            <a:spAutoFit/>
          </a:bodyPr>
          <a:lstStyle/>
          <a:p>
            <a:pPr algn="l">
              <a:lnSpc>
                <a:spcPts val="6062"/>
              </a:lnSpc>
            </a:pPr>
            <a:r>
              <a:rPr lang="en-US" sz="4875">
                <a:solidFill>
                  <a:srgbClr val="F2D4BA"/>
                </a:solidFill>
                <a:latin typeface="Prata"/>
                <a:ea typeface="Prata"/>
                <a:cs typeface="Prata"/>
                <a:sym typeface="Prata"/>
              </a:rPr>
              <a:t>Git Transactions: From Local to Remote and Back</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3171B"/>
            </a:solidFill>
            <a:ln w="12700">
              <a:solidFill>
                <a:srgbClr val="000000"/>
              </a:solidFill>
            </a:ln>
          </p:spPr>
        </p:sp>
      </p:grpSp>
      <p:grpSp>
        <p:nvGrpSpPr>
          <p:cNvPr name="Group 4" id="4"/>
          <p:cNvGrpSpPr/>
          <p:nvPr/>
        </p:nvGrpSpPr>
        <p:grpSpPr>
          <a:xfrm rot="0">
            <a:off x="114449"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12326"/>
            </a:solidFill>
            <a:ln w="12700">
              <a:solidFill>
                <a:srgbClr val="000000"/>
              </a:solidFill>
            </a:ln>
          </p:spPr>
        </p:sp>
      </p:grpSp>
      <p:sp>
        <p:nvSpPr>
          <p:cNvPr name="TextBox 6" id="6"/>
          <p:cNvSpPr txBox="true"/>
          <p:nvPr/>
        </p:nvSpPr>
        <p:spPr>
          <a:xfrm rot="0">
            <a:off x="992238" y="1322486"/>
            <a:ext cx="12443072" cy="794148"/>
          </a:xfrm>
          <a:prstGeom prst="rect">
            <a:avLst/>
          </a:prstGeom>
        </p:spPr>
        <p:txBody>
          <a:bodyPr anchor="t" rtlCol="false" tIns="0" lIns="0" bIns="0" rIns="0">
            <a:spAutoFit/>
          </a:bodyPr>
          <a:lstStyle/>
          <a:p>
            <a:pPr algn="l">
              <a:lnSpc>
                <a:spcPts val="6062"/>
              </a:lnSpc>
            </a:pPr>
            <a:r>
              <a:rPr lang="en-US" sz="4875">
                <a:solidFill>
                  <a:srgbClr val="F2D4BA"/>
                </a:solidFill>
                <a:latin typeface="Prata"/>
                <a:ea typeface="Prata"/>
                <a:cs typeface="Prata"/>
                <a:sym typeface="Prata"/>
              </a:rPr>
              <a:t>Starting Your Git Journey: git init &amp; git add</a:t>
            </a:r>
          </a:p>
        </p:txBody>
      </p:sp>
      <p:sp>
        <p:nvSpPr>
          <p:cNvPr name="TextBox 7" id="7"/>
          <p:cNvSpPr txBox="true"/>
          <p:nvPr/>
        </p:nvSpPr>
        <p:spPr>
          <a:xfrm rot="0">
            <a:off x="992238" y="2517428"/>
            <a:ext cx="16303526" cy="889099"/>
          </a:xfrm>
          <a:prstGeom prst="rect">
            <a:avLst/>
          </a:prstGeom>
        </p:spPr>
        <p:txBody>
          <a:bodyPr anchor="t" rtlCol="false" tIns="0" lIns="0" bIns="0" rIns="0">
            <a:spAutoFit/>
          </a:bodyPr>
          <a:lstStyle/>
          <a:p>
            <a:pPr algn="l">
              <a:lnSpc>
                <a:spcPts val="3125"/>
              </a:lnSpc>
            </a:pPr>
            <a:r>
              <a:rPr lang="en-US" sz="1937">
                <a:solidFill>
                  <a:srgbClr val="BDA189"/>
                </a:solidFill>
                <a:latin typeface="Arimo"/>
                <a:ea typeface="Arimo"/>
                <a:cs typeface="Arimo"/>
                <a:sym typeface="Arimo"/>
              </a:rPr>
              <a:t>Every successful project under version control begins with careful initialization and diligent tracking of changes. These foundational commands set the stage for effective collaboration and history management.</a:t>
            </a:r>
          </a:p>
        </p:txBody>
      </p:sp>
      <p:grpSp>
        <p:nvGrpSpPr>
          <p:cNvPr name="Group 8" id="8"/>
          <p:cNvGrpSpPr/>
          <p:nvPr/>
        </p:nvGrpSpPr>
        <p:grpSpPr>
          <a:xfrm rot="0">
            <a:off x="992238" y="4057650"/>
            <a:ext cx="8027789" cy="3814763"/>
            <a:chOff x="0" y="0"/>
            <a:chExt cx="10703718" cy="5086350"/>
          </a:xfrm>
        </p:grpSpPr>
        <p:sp>
          <p:nvSpPr>
            <p:cNvPr name="Freeform 9" id="9"/>
            <p:cNvSpPr/>
            <p:nvPr/>
          </p:nvSpPr>
          <p:spPr>
            <a:xfrm flipH="false" flipV="false" rot="0">
              <a:off x="0" y="0"/>
              <a:ext cx="10703687" cy="5086350"/>
            </a:xfrm>
            <a:custGeom>
              <a:avLst/>
              <a:gdLst/>
              <a:ahLst/>
              <a:cxnLst/>
              <a:rect r="r" b="b" t="t" l="l"/>
              <a:pathLst>
                <a:path h="5086350" w="10703687">
                  <a:moveTo>
                    <a:pt x="0" y="182880"/>
                  </a:moveTo>
                  <a:cubicBezTo>
                    <a:pt x="0" y="81915"/>
                    <a:pt x="81915" y="0"/>
                    <a:pt x="182880" y="0"/>
                  </a:cubicBezTo>
                  <a:lnTo>
                    <a:pt x="10520807" y="0"/>
                  </a:lnTo>
                  <a:cubicBezTo>
                    <a:pt x="10621772" y="0"/>
                    <a:pt x="10703687" y="81915"/>
                    <a:pt x="10703687" y="182880"/>
                  </a:cubicBezTo>
                  <a:lnTo>
                    <a:pt x="10703687" y="4903470"/>
                  </a:lnTo>
                  <a:cubicBezTo>
                    <a:pt x="10703687" y="5004435"/>
                    <a:pt x="10621772" y="5086350"/>
                    <a:pt x="10520807" y="5086350"/>
                  </a:cubicBezTo>
                  <a:lnTo>
                    <a:pt x="182880" y="5086350"/>
                  </a:lnTo>
                  <a:cubicBezTo>
                    <a:pt x="81915" y="5086350"/>
                    <a:pt x="0" y="5004435"/>
                    <a:pt x="0" y="4903470"/>
                  </a:cubicBezTo>
                  <a:close/>
                </a:path>
              </a:pathLst>
            </a:custGeom>
            <a:solidFill>
              <a:srgbClr val="212326"/>
            </a:solidFill>
            <a:ln w="12700">
              <a:solidFill>
                <a:srgbClr val="000000"/>
              </a:solidFill>
            </a:ln>
          </p:spPr>
        </p:sp>
      </p:grpSp>
      <p:grpSp>
        <p:nvGrpSpPr>
          <p:cNvPr name="Group 10" id="10"/>
          <p:cNvGrpSpPr/>
          <p:nvPr/>
        </p:nvGrpSpPr>
        <p:grpSpPr>
          <a:xfrm rot="0">
            <a:off x="992238" y="4029075"/>
            <a:ext cx="8027789" cy="114300"/>
            <a:chOff x="0" y="0"/>
            <a:chExt cx="10703718" cy="152400"/>
          </a:xfrm>
        </p:grpSpPr>
        <p:sp>
          <p:nvSpPr>
            <p:cNvPr name="Freeform 11" id="11"/>
            <p:cNvSpPr/>
            <p:nvPr/>
          </p:nvSpPr>
          <p:spPr>
            <a:xfrm flipH="false" flipV="false" rot="0">
              <a:off x="0" y="0"/>
              <a:ext cx="10703814" cy="152400"/>
            </a:xfrm>
            <a:custGeom>
              <a:avLst/>
              <a:gdLst/>
              <a:ahLst/>
              <a:cxnLst/>
              <a:rect r="r" b="b" t="t" l="l"/>
              <a:pathLst>
                <a:path h="152400" w="10703814">
                  <a:moveTo>
                    <a:pt x="0" y="49657"/>
                  </a:moveTo>
                  <a:cubicBezTo>
                    <a:pt x="0" y="22225"/>
                    <a:pt x="22225" y="0"/>
                    <a:pt x="49657" y="0"/>
                  </a:cubicBezTo>
                  <a:lnTo>
                    <a:pt x="10654157" y="0"/>
                  </a:lnTo>
                  <a:cubicBezTo>
                    <a:pt x="10681589" y="0"/>
                    <a:pt x="10703814" y="22225"/>
                    <a:pt x="10703814" y="49657"/>
                  </a:cubicBezTo>
                  <a:lnTo>
                    <a:pt x="10703814" y="102743"/>
                  </a:lnTo>
                  <a:cubicBezTo>
                    <a:pt x="10703814" y="130175"/>
                    <a:pt x="10681589" y="152400"/>
                    <a:pt x="10654157" y="152400"/>
                  </a:cubicBezTo>
                  <a:lnTo>
                    <a:pt x="49657" y="152400"/>
                  </a:lnTo>
                  <a:cubicBezTo>
                    <a:pt x="22225" y="152400"/>
                    <a:pt x="0" y="130175"/>
                    <a:pt x="0" y="102743"/>
                  </a:cubicBezTo>
                  <a:close/>
                </a:path>
              </a:pathLst>
            </a:custGeom>
            <a:solidFill>
              <a:srgbClr val="84482D"/>
            </a:solidFill>
            <a:ln w="12700">
              <a:solidFill>
                <a:srgbClr val="000000"/>
              </a:solidFill>
            </a:ln>
          </p:spPr>
        </p:sp>
      </p:grpSp>
      <p:grpSp>
        <p:nvGrpSpPr>
          <p:cNvPr name="Group 12" id="12"/>
          <p:cNvGrpSpPr/>
          <p:nvPr/>
        </p:nvGrpSpPr>
        <p:grpSpPr>
          <a:xfrm rot="0">
            <a:off x="4634061" y="3685580"/>
            <a:ext cx="744141" cy="744141"/>
            <a:chOff x="0" y="0"/>
            <a:chExt cx="992188" cy="992188"/>
          </a:xfrm>
        </p:grpSpPr>
        <p:sp>
          <p:nvSpPr>
            <p:cNvPr name="Freeform 13" id="13"/>
            <p:cNvSpPr/>
            <p:nvPr/>
          </p:nvSpPr>
          <p:spPr>
            <a:xfrm flipH="false" flipV="false" rot="0">
              <a:off x="0" y="0"/>
              <a:ext cx="992251" cy="992251"/>
            </a:xfrm>
            <a:custGeom>
              <a:avLst/>
              <a:gdLst/>
              <a:ahLst/>
              <a:cxnLst/>
              <a:rect r="r" b="b" t="t" l="l"/>
              <a:pathLst>
                <a:path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84482D"/>
            </a:solidFill>
            <a:ln w="12700">
              <a:solidFill>
                <a:srgbClr val="000000"/>
              </a:solidFill>
            </a:ln>
          </p:spPr>
        </p:sp>
      </p:grpSp>
      <p:sp>
        <p:nvSpPr>
          <p:cNvPr name="TextBox 14" id="14"/>
          <p:cNvSpPr txBox="true"/>
          <p:nvPr/>
        </p:nvSpPr>
        <p:spPr>
          <a:xfrm rot="0">
            <a:off x="4857304" y="3776365"/>
            <a:ext cx="297656" cy="467320"/>
          </a:xfrm>
          <a:prstGeom prst="rect">
            <a:avLst/>
          </a:prstGeom>
        </p:spPr>
        <p:txBody>
          <a:bodyPr anchor="t" rtlCol="false" tIns="0" lIns="0" bIns="0" rIns="0">
            <a:spAutoFit/>
          </a:bodyPr>
          <a:lstStyle/>
          <a:p>
            <a:pPr algn="l">
              <a:lnSpc>
                <a:spcPts val="3750"/>
              </a:lnSpc>
            </a:pPr>
            <a:r>
              <a:rPr lang="en-US" sz="2312">
                <a:solidFill>
                  <a:srgbClr val="FFFFFF"/>
                </a:solidFill>
                <a:latin typeface="Prata"/>
                <a:ea typeface="Prata"/>
                <a:cs typeface="Prata"/>
                <a:sym typeface="Prata"/>
              </a:rPr>
              <a:t>1</a:t>
            </a:r>
          </a:p>
        </p:txBody>
      </p:sp>
      <p:sp>
        <p:nvSpPr>
          <p:cNvPr name="TextBox 15" id="15"/>
          <p:cNvSpPr txBox="true"/>
          <p:nvPr/>
        </p:nvSpPr>
        <p:spPr>
          <a:xfrm rot="0">
            <a:off x="1268760" y="4677816"/>
            <a:ext cx="3101131" cy="387697"/>
          </a:xfrm>
          <a:prstGeom prst="rect">
            <a:avLst/>
          </a:prstGeom>
        </p:spPr>
        <p:txBody>
          <a:bodyPr anchor="t" rtlCol="false" tIns="0" lIns="0" bIns="0" rIns="0">
            <a:spAutoFit/>
          </a:bodyPr>
          <a:lstStyle/>
          <a:p>
            <a:pPr algn="l">
              <a:lnSpc>
                <a:spcPts val="2999"/>
              </a:lnSpc>
            </a:pPr>
            <a:r>
              <a:rPr lang="en-US" sz="2437">
                <a:solidFill>
                  <a:srgbClr val="BDA189"/>
                </a:solidFill>
                <a:latin typeface="Prata"/>
                <a:ea typeface="Prata"/>
                <a:cs typeface="Prata"/>
                <a:sym typeface="Prata"/>
              </a:rPr>
              <a:t>git init</a:t>
            </a:r>
          </a:p>
        </p:txBody>
      </p:sp>
      <p:sp>
        <p:nvSpPr>
          <p:cNvPr name="TextBox 16" id="16"/>
          <p:cNvSpPr txBox="true"/>
          <p:nvPr/>
        </p:nvSpPr>
        <p:spPr>
          <a:xfrm rot="0">
            <a:off x="1268760" y="5119092"/>
            <a:ext cx="7474744" cy="2476798"/>
          </a:xfrm>
          <a:prstGeom prst="rect">
            <a:avLst/>
          </a:prstGeom>
        </p:spPr>
        <p:txBody>
          <a:bodyPr anchor="t" rtlCol="false" tIns="0" lIns="0" bIns="0" rIns="0">
            <a:spAutoFit/>
          </a:bodyPr>
          <a:lstStyle/>
          <a:p>
            <a:pPr algn="l">
              <a:lnSpc>
                <a:spcPts val="3125"/>
              </a:lnSpc>
            </a:pPr>
            <a:r>
              <a:rPr lang="en-US" sz="1937">
                <a:solidFill>
                  <a:srgbClr val="BDA189"/>
                </a:solidFill>
                <a:latin typeface="Arimo"/>
                <a:ea typeface="Arimo"/>
                <a:cs typeface="Arimo"/>
                <a:sym typeface="Arimo"/>
              </a:rPr>
              <a:t>This command transforms an ordinary directory into a Git repository. It creates a hidden .git subdirectory which contains all the necessary repository files—metadata, object database, and more—that Git uses to track your project's version history. It's the essential first step for any new project you wish to place under version control.</a:t>
            </a:r>
          </a:p>
        </p:txBody>
      </p:sp>
      <p:grpSp>
        <p:nvGrpSpPr>
          <p:cNvPr name="Group 17" id="17"/>
          <p:cNvGrpSpPr/>
          <p:nvPr/>
        </p:nvGrpSpPr>
        <p:grpSpPr>
          <a:xfrm rot="0">
            <a:off x="9267974" y="4057650"/>
            <a:ext cx="8027789" cy="3814763"/>
            <a:chOff x="0" y="0"/>
            <a:chExt cx="10703718" cy="5086350"/>
          </a:xfrm>
        </p:grpSpPr>
        <p:sp>
          <p:nvSpPr>
            <p:cNvPr name="Freeform 18" id="18"/>
            <p:cNvSpPr/>
            <p:nvPr/>
          </p:nvSpPr>
          <p:spPr>
            <a:xfrm flipH="false" flipV="false" rot="0">
              <a:off x="0" y="0"/>
              <a:ext cx="10703687" cy="5086350"/>
            </a:xfrm>
            <a:custGeom>
              <a:avLst/>
              <a:gdLst/>
              <a:ahLst/>
              <a:cxnLst/>
              <a:rect r="r" b="b" t="t" l="l"/>
              <a:pathLst>
                <a:path h="5086350" w="10703687">
                  <a:moveTo>
                    <a:pt x="0" y="182880"/>
                  </a:moveTo>
                  <a:cubicBezTo>
                    <a:pt x="0" y="81915"/>
                    <a:pt x="81915" y="0"/>
                    <a:pt x="182880" y="0"/>
                  </a:cubicBezTo>
                  <a:lnTo>
                    <a:pt x="10520807" y="0"/>
                  </a:lnTo>
                  <a:cubicBezTo>
                    <a:pt x="10621772" y="0"/>
                    <a:pt x="10703687" y="81915"/>
                    <a:pt x="10703687" y="182880"/>
                  </a:cubicBezTo>
                  <a:lnTo>
                    <a:pt x="10703687" y="4903470"/>
                  </a:lnTo>
                  <a:cubicBezTo>
                    <a:pt x="10703687" y="5004435"/>
                    <a:pt x="10621772" y="5086350"/>
                    <a:pt x="10520807" y="5086350"/>
                  </a:cubicBezTo>
                  <a:lnTo>
                    <a:pt x="182880" y="5086350"/>
                  </a:lnTo>
                  <a:cubicBezTo>
                    <a:pt x="81915" y="5086350"/>
                    <a:pt x="0" y="5004435"/>
                    <a:pt x="0" y="4903470"/>
                  </a:cubicBezTo>
                  <a:close/>
                </a:path>
              </a:pathLst>
            </a:custGeom>
            <a:solidFill>
              <a:srgbClr val="212326"/>
            </a:solidFill>
            <a:ln w="12700">
              <a:solidFill>
                <a:srgbClr val="000000"/>
              </a:solidFill>
            </a:ln>
          </p:spPr>
        </p:sp>
      </p:grpSp>
      <p:grpSp>
        <p:nvGrpSpPr>
          <p:cNvPr name="Group 19" id="19"/>
          <p:cNvGrpSpPr/>
          <p:nvPr/>
        </p:nvGrpSpPr>
        <p:grpSpPr>
          <a:xfrm rot="0">
            <a:off x="9267974" y="4029075"/>
            <a:ext cx="8027789" cy="114300"/>
            <a:chOff x="0" y="0"/>
            <a:chExt cx="10703718" cy="152400"/>
          </a:xfrm>
        </p:grpSpPr>
        <p:sp>
          <p:nvSpPr>
            <p:cNvPr name="Freeform 20" id="20"/>
            <p:cNvSpPr/>
            <p:nvPr/>
          </p:nvSpPr>
          <p:spPr>
            <a:xfrm flipH="false" flipV="false" rot="0">
              <a:off x="0" y="0"/>
              <a:ext cx="10703814" cy="152400"/>
            </a:xfrm>
            <a:custGeom>
              <a:avLst/>
              <a:gdLst/>
              <a:ahLst/>
              <a:cxnLst/>
              <a:rect r="r" b="b" t="t" l="l"/>
              <a:pathLst>
                <a:path h="152400" w="10703814">
                  <a:moveTo>
                    <a:pt x="0" y="49657"/>
                  </a:moveTo>
                  <a:cubicBezTo>
                    <a:pt x="0" y="22225"/>
                    <a:pt x="22225" y="0"/>
                    <a:pt x="49657" y="0"/>
                  </a:cubicBezTo>
                  <a:lnTo>
                    <a:pt x="10654157" y="0"/>
                  </a:lnTo>
                  <a:cubicBezTo>
                    <a:pt x="10681589" y="0"/>
                    <a:pt x="10703814" y="22225"/>
                    <a:pt x="10703814" y="49657"/>
                  </a:cubicBezTo>
                  <a:lnTo>
                    <a:pt x="10703814" y="102743"/>
                  </a:lnTo>
                  <a:cubicBezTo>
                    <a:pt x="10703814" y="130175"/>
                    <a:pt x="10681589" y="152400"/>
                    <a:pt x="10654157" y="152400"/>
                  </a:cubicBezTo>
                  <a:lnTo>
                    <a:pt x="49657" y="152400"/>
                  </a:lnTo>
                  <a:cubicBezTo>
                    <a:pt x="22225" y="152400"/>
                    <a:pt x="0" y="130175"/>
                    <a:pt x="0" y="102743"/>
                  </a:cubicBezTo>
                  <a:close/>
                </a:path>
              </a:pathLst>
            </a:custGeom>
            <a:solidFill>
              <a:srgbClr val="84482D"/>
            </a:solidFill>
            <a:ln w="12700">
              <a:solidFill>
                <a:srgbClr val="000000"/>
              </a:solidFill>
            </a:ln>
          </p:spPr>
        </p:sp>
      </p:grpSp>
      <p:grpSp>
        <p:nvGrpSpPr>
          <p:cNvPr name="Group 21" id="21"/>
          <p:cNvGrpSpPr/>
          <p:nvPr/>
        </p:nvGrpSpPr>
        <p:grpSpPr>
          <a:xfrm rot="0">
            <a:off x="12909797" y="3685580"/>
            <a:ext cx="744141" cy="744141"/>
            <a:chOff x="0" y="0"/>
            <a:chExt cx="992188" cy="992188"/>
          </a:xfrm>
        </p:grpSpPr>
        <p:sp>
          <p:nvSpPr>
            <p:cNvPr name="Freeform 22" id="22"/>
            <p:cNvSpPr/>
            <p:nvPr/>
          </p:nvSpPr>
          <p:spPr>
            <a:xfrm flipH="false" flipV="false" rot="0">
              <a:off x="0" y="0"/>
              <a:ext cx="992251" cy="992251"/>
            </a:xfrm>
            <a:custGeom>
              <a:avLst/>
              <a:gdLst/>
              <a:ahLst/>
              <a:cxnLst/>
              <a:rect r="r" b="b" t="t" l="l"/>
              <a:pathLst>
                <a:path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84482D"/>
            </a:solidFill>
            <a:ln w="12700">
              <a:solidFill>
                <a:srgbClr val="000000"/>
              </a:solidFill>
            </a:ln>
          </p:spPr>
        </p:sp>
      </p:grpSp>
      <p:sp>
        <p:nvSpPr>
          <p:cNvPr name="TextBox 23" id="23"/>
          <p:cNvSpPr txBox="true"/>
          <p:nvPr/>
        </p:nvSpPr>
        <p:spPr>
          <a:xfrm rot="0">
            <a:off x="13133040" y="3776365"/>
            <a:ext cx="297656" cy="467320"/>
          </a:xfrm>
          <a:prstGeom prst="rect">
            <a:avLst/>
          </a:prstGeom>
        </p:spPr>
        <p:txBody>
          <a:bodyPr anchor="t" rtlCol="false" tIns="0" lIns="0" bIns="0" rIns="0">
            <a:spAutoFit/>
          </a:bodyPr>
          <a:lstStyle/>
          <a:p>
            <a:pPr algn="l">
              <a:lnSpc>
                <a:spcPts val="3750"/>
              </a:lnSpc>
            </a:pPr>
            <a:r>
              <a:rPr lang="en-US" sz="2312">
                <a:solidFill>
                  <a:srgbClr val="FFFFFF"/>
                </a:solidFill>
                <a:latin typeface="Prata"/>
                <a:ea typeface="Prata"/>
                <a:cs typeface="Prata"/>
                <a:sym typeface="Prata"/>
              </a:rPr>
              <a:t>2</a:t>
            </a:r>
          </a:p>
        </p:txBody>
      </p:sp>
      <p:sp>
        <p:nvSpPr>
          <p:cNvPr name="TextBox 24" id="24"/>
          <p:cNvSpPr txBox="true"/>
          <p:nvPr/>
        </p:nvSpPr>
        <p:spPr>
          <a:xfrm rot="0">
            <a:off x="9544496" y="4677816"/>
            <a:ext cx="3101131" cy="387697"/>
          </a:xfrm>
          <a:prstGeom prst="rect">
            <a:avLst/>
          </a:prstGeom>
        </p:spPr>
        <p:txBody>
          <a:bodyPr anchor="t" rtlCol="false" tIns="0" lIns="0" bIns="0" rIns="0">
            <a:spAutoFit/>
          </a:bodyPr>
          <a:lstStyle/>
          <a:p>
            <a:pPr algn="l">
              <a:lnSpc>
                <a:spcPts val="2999"/>
              </a:lnSpc>
            </a:pPr>
            <a:r>
              <a:rPr lang="en-US" sz="2437">
                <a:solidFill>
                  <a:srgbClr val="BDA189"/>
                </a:solidFill>
                <a:latin typeface="Prata"/>
                <a:ea typeface="Prata"/>
                <a:cs typeface="Prata"/>
                <a:sym typeface="Prata"/>
              </a:rPr>
              <a:t>git add</a:t>
            </a:r>
          </a:p>
        </p:txBody>
      </p:sp>
      <p:sp>
        <p:nvSpPr>
          <p:cNvPr name="TextBox 25" id="25"/>
          <p:cNvSpPr txBox="true"/>
          <p:nvPr/>
        </p:nvSpPr>
        <p:spPr>
          <a:xfrm rot="0">
            <a:off x="9544496" y="5119092"/>
            <a:ext cx="7474744" cy="2476798"/>
          </a:xfrm>
          <a:prstGeom prst="rect">
            <a:avLst/>
          </a:prstGeom>
        </p:spPr>
        <p:txBody>
          <a:bodyPr anchor="t" rtlCol="false" tIns="0" lIns="0" bIns="0" rIns="0">
            <a:spAutoFit/>
          </a:bodyPr>
          <a:lstStyle/>
          <a:p>
            <a:pPr algn="l">
              <a:lnSpc>
                <a:spcPts val="3125"/>
              </a:lnSpc>
            </a:pPr>
            <a:r>
              <a:rPr lang="en-US" sz="1937">
                <a:solidFill>
                  <a:srgbClr val="BDA189"/>
                </a:solidFill>
                <a:latin typeface="Arimo"/>
                <a:ea typeface="Arimo"/>
                <a:cs typeface="Arimo"/>
                <a:sym typeface="Arimo"/>
              </a:rPr>
              <a:t>After making changes to your files, git add is used to move these modifications from your working directory to the </a:t>
            </a:r>
            <a:r>
              <a:rPr lang="en-US" sz="1937" b="true">
                <a:solidFill>
                  <a:srgbClr val="BDA189"/>
                </a:solidFill>
                <a:latin typeface="Arimo Bold"/>
                <a:ea typeface="Arimo Bold"/>
                <a:cs typeface="Arimo Bold"/>
                <a:sym typeface="Arimo Bold"/>
              </a:rPr>
              <a:t>staging area</a:t>
            </a:r>
            <a:r>
              <a:rPr lang="en-US" sz="1937">
                <a:solidFill>
                  <a:srgbClr val="BDA189"/>
                </a:solidFill>
                <a:latin typeface="Arimo"/>
                <a:ea typeface="Arimo"/>
                <a:cs typeface="Arimo"/>
                <a:sym typeface="Arimo"/>
              </a:rPr>
              <a:t>. Think of the staging area as a preparatory space where you meticulously select which changes will be part of your next commit. You can add individual files (git add file.js), specific directories (git add src/), or all modified files (git add .).</a:t>
            </a:r>
          </a:p>
        </p:txBody>
      </p:sp>
      <p:sp>
        <p:nvSpPr>
          <p:cNvPr name="TextBox 26" id="26"/>
          <p:cNvSpPr txBox="true"/>
          <p:nvPr/>
        </p:nvSpPr>
        <p:spPr>
          <a:xfrm rot="0">
            <a:off x="992238" y="8056215"/>
            <a:ext cx="16303526" cy="889099"/>
          </a:xfrm>
          <a:prstGeom prst="rect">
            <a:avLst/>
          </a:prstGeom>
        </p:spPr>
        <p:txBody>
          <a:bodyPr anchor="t" rtlCol="false" tIns="0" lIns="0" bIns="0" rIns="0">
            <a:spAutoFit/>
          </a:bodyPr>
          <a:lstStyle/>
          <a:p>
            <a:pPr algn="l">
              <a:lnSpc>
                <a:spcPts val="3125"/>
              </a:lnSpc>
            </a:pPr>
            <a:r>
              <a:rPr lang="en-US" sz="1937">
                <a:solidFill>
                  <a:srgbClr val="BDA189"/>
                </a:solidFill>
                <a:latin typeface="Arimo"/>
                <a:ea typeface="Arimo"/>
                <a:cs typeface="Arimo"/>
                <a:sym typeface="Arimo"/>
              </a:rPr>
              <a:t>Visualising this process helps understand the flow: first, your project folder becomes a Git-aware repository, then your modified files are carefully prepared for inclusion in the project's history.</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3171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12326"/>
            </a:solidFill>
            <a:ln w="12700">
              <a:solidFill>
                <a:srgbClr val="000000"/>
              </a:solidFill>
            </a:ln>
          </p:spPr>
        </p:sp>
      </p:grpSp>
      <p:sp>
        <p:nvSpPr>
          <p:cNvPr name="TextBox 6" id="6"/>
          <p:cNvSpPr txBox="true"/>
          <p:nvPr/>
        </p:nvSpPr>
        <p:spPr>
          <a:xfrm rot="0">
            <a:off x="992238" y="1480989"/>
            <a:ext cx="15020479" cy="794147"/>
          </a:xfrm>
          <a:prstGeom prst="rect">
            <a:avLst/>
          </a:prstGeom>
        </p:spPr>
        <p:txBody>
          <a:bodyPr anchor="t" rtlCol="false" tIns="0" lIns="0" bIns="0" rIns="0">
            <a:spAutoFit/>
          </a:bodyPr>
          <a:lstStyle/>
          <a:p>
            <a:pPr algn="l">
              <a:lnSpc>
                <a:spcPts val="6062"/>
              </a:lnSpc>
            </a:pPr>
            <a:r>
              <a:rPr lang="en-US" sz="4875">
                <a:solidFill>
                  <a:srgbClr val="F2D4BA"/>
                </a:solidFill>
                <a:latin typeface="Prata"/>
                <a:ea typeface="Prata"/>
                <a:cs typeface="Prata"/>
                <a:sym typeface="Prata"/>
              </a:rPr>
              <a:t>Saving Your Work Locally: git commit -m "message"</a:t>
            </a:r>
          </a:p>
        </p:txBody>
      </p:sp>
      <p:sp>
        <p:nvSpPr>
          <p:cNvPr name="TextBox 7" id="7"/>
          <p:cNvSpPr txBox="true"/>
          <p:nvPr/>
        </p:nvSpPr>
        <p:spPr>
          <a:xfrm rot="0">
            <a:off x="992238" y="2675930"/>
            <a:ext cx="16303526" cy="889099"/>
          </a:xfrm>
          <a:prstGeom prst="rect">
            <a:avLst/>
          </a:prstGeom>
        </p:spPr>
        <p:txBody>
          <a:bodyPr anchor="t" rtlCol="false" tIns="0" lIns="0" bIns="0" rIns="0">
            <a:spAutoFit/>
          </a:bodyPr>
          <a:lstStyle/>
          <a:p>
            <a:pPr algn="l">
              <a:lnSpc>
                <a:spcPts val="3125"/>
              </a:lnSpc>
            </a:pPr>
            <a:r>
              <a:rPr lang="en-US" sz="1937">
                <a:solidFill>
                  <a:srgbClr val="BDA189"/>
                </a:solidFill>
                <a:latin typeface="Arimo"/>
                <a:ea typeface="Arimo"/>
                <a:cs typeface="Arimo"/>
                <a:sym typeface="Arimo"/>
              </a:rPr>
              <a:t>Once your changes are staged, they're ready to be permanently recorded in your local repository's history. This is where the git commit command comes in, acting as the historical bookmark of your project's evolution.</a:t>
            </a:r>
          </a:p>
        </p:txBody>
      </p:sp>
      <p:sp>
        <p:nvSpPr>
          <p:cNvPr name="TextBox 8" id="8"/>
          <p:cNvSpPr txBox="true"/>
          <p:nvPr/>
        </p:nvSpPr>
        <p:spPr>
          <a:xfrm rot="0">
            <a:off x="1364308" y="4027885"/>
            <a:ext cx="15931455" cy="889099"/>
          </a:xfrm>
          <a:prstGeom prst="rect">
            <a:avLst/>
          </a:prstGeom>
        </p:spPr>
        <p:txBody>
          <a:bodyPr anchor="t" rtlCol="false" tIns="0" lIns="0" bIns="0" rIns="0">
            <a:spAutoFit/>
          </a:bodyPr>
          <a:lstStyle/>
          <a:p>
            <a:pPr algn="l">
              <a:lnSpc>
                <a:spcPts val="3125"/>
              </a:lnSpc>
            </a:pPr>
            <a:r>
              <a:rPr lang="en-US" sz="1937" b="true">
                <a:solidFill>
                  <a:srgbClr val="BDA189"/>
                </a:solidFill>
                <a:latin typeface="Arimo Bold"/>
                <a:ea typeface="Arimo Bold"/>
                <a:cs typeface="Arimo Bold"/>
                <a:sym typeface="Arimo Bold"/>
              </a:rPr>
              <a:t>A commit</a:t>
            </a:r>
            <a:r>
              <a:rPr lang="en-US" sz="1937">
                <a:solidFill>
                  <a:srgbClr val="BDA189"/>
                </a:solidFill>
                <a:latin typeface="Arimo"/>
                <a:ea typeface="Arimo"/>
                <a:cs typeface="Arimo"/>
                <a:sym typeface="Arimo"/>
              </a:rPr>
              <a:t> is a snapshot of your repository at a specific point in time. It records the state of your staged changes, along with a unique identifier and essential metadata.</a:t>
            </a:r>
          </a:p>
        </p:txBody>
      </p:sp>
      <p:grpSp>
        <p:nvGrpSpPr>
          <p:cNvPr name="Group 9" id="9"/>
          <p:cNvGrpSpPr/>
          <p:nvPr/>
        </p:nvGrpSpPr>
        <p:grpSpPr>
          <a:xfrm rot="0">
            <a:off x="992238" y="3844081"/>
            <a:ext cx="28575" cy="1351955"/>
            <a:chOff x="0" y="0"/>
            <a:chExt cx="38100" cy="1802607"/>
          </a:xfrm>
        </p:grpSpPr>
        <p:sp>
          <p:nvSpPr>
            <p:cNvPr name="Freeform 10" id="10"/>
            <p:cNvSpPr/>
            <p:nvPr/>
          </p:nvSpPr>
          <p:spPr>
            <a:xfrm flipH="false" flipV="false" rot="0">
              <a:off x="0" y="0"/>
              <a:ext cx="38100" cy="1802638"/>
            </a:xfrm>
            <a:custGeom>
              <a:avLst/>
              <a:gdLst/>
              <a:ahLst/>
              <a:cxnLst/>
              <a:rect r="r" b="b" t="t" l="l"/>
              <a:pathLst>
                <a:path h="1802638" w="38100">
                  <a:moveTo>
                    <a:pt x="0" y="0"/>
                  </a:moveTo>
                  <a:lnTo>
                    <a:pt x="38100" y="0"/>
                  </a:lnTo>
                  <a:lnTo>
                    <a:pt x="38100" y="1802638"/>
                  </a:lnTo>
                  <a:lnTo>
                    <a:pt x="0" y="1802638"/>
                  </a:lnTo>
                  <a:close/>
                </a:path>
              </a:pathLst>
            </a:custGeom>
            <a:solidFill>
              <a:srgbClr val="84482D"/>
            </a:solidFill>
            <a:ln w="12700">
              <a:solidFill>
                <a:srgbClr val="000000"/>
              </a:solidFill>
            </a:ln>
          </p:spPr>
        </p:sp>
      </p:grpSp>
      <p:sp>
        <p:nvSpPr>
          <p:cNvPr name="TextBox 11" id="11"/>
          <p:cNvSpPr txBox="true"/>
          <p:nvPr/>
        </p:nvSpPr>
        <p:spPr>
          <a:xfrm rot="0">
            <a:off x="992238" y="5379839"/>
            <a:ext cx="16303526" cy="1286024"/>
          </a:xfrm>
          <a:prstGeom prst="rect">
            <a:avLst/>
          </a:prstGeom>
        </p:spPr>
        <p:txBody>
          <a:bodyPr anchor="t" rtlCol="false" tIns="0" lIns="0" bIns="0" rIns="0">
            <a:spAutoFit/>
          </a:bodyPr>
          <a:lstStyle/>
          <a:p>
            <a:pPr algn="l">
              <a:lnSpc>
                <a:spcPts val="3125"/>
              </a:lnSpc>
            </a:pPr>
            <a:r>
              <a:rPr lang="en-US" sz="1937">
                <a:solidFill>
                  <a:srgbClr val="BDA189"/>
                </a:solidFill>
                <a:latin typeface="Arimo"/>
                <a:ea typeface="Arimo"/>
                <a:cs typeface="Arimo"/>
                <a:sym typeface="Arimo"/>
              </a:rPr>
              <a:t>Using the -m flag allows you to include a concise, descriptive message directly with your commit. This message is crucial for understanding the purpose and content of the changes without having to inspect the code itself. Good commit messages are vital for project maintainability and collaboration.</a:t>
            </a:r>
          </a:p>
        </p:txBody>
      </p:sp>
      <p:grpSp>
        <p:nvGrpSpPr>
          <p:cNvPr name="Group 12" id="12"/>
          <p:cNvGrpSpPr/>
          <p:nvPr/>
        </p:nvGrpSpPr>
        <p:grpSpPr>
          <a:xfrm rot="0">
            <a:off x="992238" y="6944916"/>
            <a:ext cx="16303526" cy="768995"/>
            <a:chOff x="0" y="0"/>
            <a:chExt cx="21738035" cy="1025327"/>
          </a:xfrm>
        </p:grpSpPr>
        <p:sp>
          <p:nvSpPr>
            <p:cNvPr name="Freeform 13" id="13"/>
            <p:cNvSpPr/>
            <p:nvPr/>
          </p:nvSpPr>
          <p:spPr>
            <a:xfrm flipH="false" flipV="false" rot="0">
              <a:off x="0" y="0"/>
              <a:ext cx="21738082" cy="1025398"/>
            </a:xfrm>
            <a:custGeom>
              <a:avLst/>
              <a:gdLst/>
              <a:ahLst/>
              <a:cxnLst/>
              <a:rect r="r" b="b" t="t" l="l"/>
              <a:pathLst>
                <a:path h="1025398" w="21738082">
                  <a:moveTo>
                    <a:pt x="0" y="49657"/>
                  </a:moveTo>
                  <a:cubicBezTo>
                    <a:pt x="0" y="22225"/>
                    <a:pt x="22225" y="0"/>
                    <a:pt x="49657" y="0"/>
                  </a:cubicBezTo>
                  <a:lnTo>
                    <a:pt x="21688425" y="0"/>
                  </a:lnTo>
                  <a:cubicBezTo>
                    <a:pt x="21715857" y="0"/>
                    <a:pt x="21738082" y="22225"/>
                    <a:pt x="21738082" y="49657"/>
                  </a:cubicBezTo>
                  <a:lnTo>
                    <a:pt x="21738082" y="975741"/>
                  </a:lnTo>
                  <a:cubicBezTo>
                    <a:pt x="21738082" y="1003173"/>
                    <a:pt x="21715857" y="1025398"/>
                    <a:pt x="21688425" y="1025398"/>
                  </a:cubicBezTo>
                  <a:lnTo>
                    <a:pt x="49657" y="1025398"/>
                  </a:lnTo>
                  <a:cubicBezTo>
                    <a:pt x="22225" y="1025271"/>
                    <a:pt x="0" y="1003173"/>
                    <a:pt x="0" y="975741"/>
                  </a:cubicBezTo>
                  <a:close/>
                </a:path>
              </a:pathLst>
            </a:custGeom>
            <a:solidFill>
              <a:srgbClr val="2E3033"/>
            </a:solidFill>
            <a:ln w="12700">
              <a:solidFill>
                <a:srgbClr val="000000"/>
              </a:solidFill>
            </a:ln>
          </p:spPr>
        </p:sp>
      </p:grpSp>
      <p:grpSp>
        <p:nvGrpSpPr>
          <p:cNvPr name="Group 14" id="14"/>
          <p:cNvGrpSpPr/>
          <p:nvPr/>
        </p:nvGrpSpPr>
        <p:grpSpPr>
          <a:xfrm rot="0">
            <a:off x="979885" y="6944916"/>
            <a:ext cx="16328231" cy="768995"/>
            <a:chOff x="0" y="0"/>
            <a:chExt cx="21770975" cy="1025327"/>
          </a:xfrm>
        </p:grpSpPr>
        <p:sp>
          <p:nvSpPr>
            <p:cNvPr name="Freeform 15" id="15"/>
            <p:cNvSpPr/>
            <p:nvPr/>
          </p:nvSpPr>
          <p:spPr>
            <a:xfrm flipH="false" flipV="false" rot="0">
              <a:off x="0" y="0"/>
              <a:ext cx="21770975" cy="1025398"/>
            </a:xfrm>
            <a:custGeom>
              <a:avLst/>
              <a:gdLst/>
              <a:ahLst/>
              <a:cxnLst/>
              <a:rect r="r" b="b" t="t" l="l"/>
              <a:pathLst>
                <a:path h="1025398" w="21770975">
                  <a:moveTo>
                    <a:pt x="0" y="49657"/>
                  </a:moveTo>
                  <a:cubicBezTo>
                    <a:pt x="0" y="22225"/>
                    <a:pt x="22225" y="0"/>
                    <a:pt x="49657" y="0"/>
                  </a:cubicBezTo>
                  <a:lnTo>
                    <a:pt x="21721318" y="0"/>
                  </a:lnTo>
                  <a:cubicBezTo>
                    <a:pt x="21748750" y="0"/>
                    <a:pt x="21770975" y="22225"/>
                    <a:pt x="21770975" y="49657"/>
                  </a:cubicBezTo>
                  <a:lnTo>
                    <a:pt x="21770975" y="975741"/>
                  </a:lnTo>
                  <a:cubicBezTo>
                    <a:pt x="21770975" y="1003173"/>
                    <a:pt x="21748750" y="1025398"/>
                    <a:pt x="21721318" y="1025398"/>
                  </a:cubicBezTo>
                  <a:lnTo>
                    <a:pt x="49657" y="1025398"/>
                  </a:lnTo>
                  <a:cubicBezTo>
                    <a:pt x="22225" y="1025271"/>
                    <a:pt x="0" y="1003173"/>
                    <a:pt x="0" y="975741"/>
                  </a:cubicBezTo>
                  <a:close/>
                </a:path>
              </a:pathLst>
            </a:custGeom>
            <a:solidFill>
              <a:srgbClr val="2E3033"/>
            </a:solidFill>
            <a:ln w="12700">
              <a:solidFill>
                <a:srgbClr val="000000"/>
              </a:solidFill>
            </a:ln>
          </p:spPr>
        </p:sp>
      </p:grpSp>
      <p:sp>
        <p:nvSpPr>
          <p:cNvPr name="TextBox 16" id="16"/>
          <p:cNvSpPr txBox="true"/>
          <p:nvPr/>
        </p:nvSpPr>
        <p:spPr>
          <a:xfrm rot="0">
            <a:off x="1227832" y="7007126"/>
            <a:ext cx="15832336" cy="520750"/>
          </a:xfrm>
          <a:prstGeom prst="rect">
            <a:avLst/>
          </a:prstGeom>
        </p:spPr>
        <p:txBody>
          <a:bodyPr anchor="t" rtlCol="false" tIns="0" lIns="0" bIns="0" rIns="0">
            <a:spAutoFit/>
          </a:bodyPr>
          <a:lstStyle/>
          <a:p>
            <a:pPr algn="l">
              <a:lnSpc>
                <a:spcPts val="3125"/>
              </a:lnSpc>
            </a:pPr>
            <a:r>
              <a:rPr lang="en-US" sz="1937">
                <a:solidFill>
                  <a:srgbClr val="BDA189"/>
                </a:solidFill>
                <a:latin typeface="Consolas"/>
                <a:ea typeface="Consolas"/>
                <a:cs typeface="Consolas"/>
                <a:sym typeface="Consolas"/>
              </a:rPr>
              <a:t>git commit -m "Add responsive navigation bar to header"</a:t>
            </a:r>
          </a:p>
        </p:txBody>
      </p:sp>
      <p:sp>
        <p:nvSpPr>
          <p:cNvPr name="TextBox 17" id="17"/>
          <p:cNvSpPr txBox="true"/>
          <p:nvPr/>
        </p:nvSpPr>
        <p:spPr>
          <a:xfrm rot="0">
            <a:off x="992238" y="7897714"/>
            <a:ext cx="16303526" cy="889099"/>
          </a:xfrm>
          <a:prstGeom prst="rect">
            <a:avLst/>
          </a:prstGeom>
        </p:spPr>
        <p:txBody>
          <a:bodyPr anchor="t" rtlCol="false" tIns="0" lIns="0" bIns="0" rIns="0">
            <a:spAutoFit/>
          </a:bodyPr>
          <a:lstStyle/>
          <a:p>
            <a:pPr algn="l">
              <a:lnSpc>
                <a:spcPts val="3125"/>
              </a:lnSpc>
            </a:pPr>
            <a:r>
              <a:rPr lang="en-US" sz="1937">
                <a:solidFill>
                  <a:srgbClr val="BDA189"/>
                </a:solidFill>
                <a:latin typeface="Arimo"/>
                <a:ea typeface="Arimo"/>
                <a:cs typeface="Arimo"/>
                <a:sym typeface="Arimo"/>
              </a:rPr>
              <a:t>Each commit adds to the linear history of your project, building a traceable timeline of all developments and modifications. This local history is invaluable for reviewing past work, reverting to previous states, or understanding how features were implemented.</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3171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12326"/>
            </a:solidFill>
            <a:ln w="12700">
              <a:solidFill>
                <a:srgbClr val="000000"/>
              </a:solidFill>
            </a:ln>
          </p:spPr>
        </p:sp>
      </p:grpSp>
      <p:sp>
        <p:nvSpPr>
          <p:cNvPr name="TextBox 6" id="6"/>
          <p:cNvSpPr txBox="true"/>
          <p:nvPr/>
        </p:nvSpPr>
        <p:spPr>
          <a:xfrm rot="0">
            <a:off x="992238" y="1045369"/>
            <a:ext cx="16148000" cy="794148"/>
          </a:xfrm>
          <a:prstGeom prst="rect">
            <a:avLst/>
          </a:prstGeom>
        </p:spPr>
        <p:txBody>
          <a:bodyPr anchor="t" rtlCol="false" tIns="0" lIns="0" bIns="0" rIns="0">
            <a:spAutoFit/>
          </a:bodyPr>
          <a:lstStyle/>
          <a:p>
            <a:pPr algn="l">
              <a:lnSpc>
                <a:spcPts val="6062"/>
              </a:lnSpc>
            </a:pPr>
            <a:r>
              <a:rPr lang="en-US" sz="4875">
                <a:solidFill>
                  <a:srgbClr val="F2D4BA"/>
                </a:solidFill>
                <a:latin typeface="Prata"/>
                <a:ea typeface="Prata"/>
                <a:cs typeface="Prata"/>
                <a:sym typeface="Prata"/>
              </a:rPr>
              <a:t>Connecting Local to Remote: git remote add &amp; git push</a:t>
            </a:r>
          </a:p>
        </p:txBody>
      </p:sp>
      <p:sp>
        <p:nvSpPr>
          <p:cNvPr name="TextBox 7" id="7"/>
          <p:cNvSpPr txBox="true"/>
          <p:nvPr/>
        </p:nvSpPr>
        <p:spPr>
          <a:xfrm rot="0">
            <a:off x="992238" y="2240310"/>
            <a:ext cx="16303526" cy="889099"/>
          </a:xfrm>
          <a:prstGeom prst="rect">
            <a:avLst/>
          </a:prstGeom>
        </p:spPr>
        <p:txBody>
          <a:bodyPr anchor="t" rtlCol="false" tIns="0" lIns="0" bIns="0" rIns="0">
            <a:spAutoFit/>
          </a:bodyPr>
          <a:lstStyle/>
          <a:p>
            <a:pPr algn="l">
              <a:lnSpc>
                <a:spcPts val="3125"/>
              </a:lnSpc>
            </a:pPr>
            <a:r>
              <a:rPr lang="en-US" sz="1937">
                <a:solidFill>
                  <a:srgbClr val="BDA189"/>
                </a:solidFill>
                <a:latin typeface="Arimo"/>
                <a:ea typeface="Arimo"/>
                <a:cs typeface="Arimo"/>
                <a:sym typeface="Arimo"/>
              </a:rPr>
              <a:t>While local commits are powerful for individual work, collaboration and backup depend on connecting your local repository to a remote server. This is typically done through platforms like GitHub, GitLab, or Bitbucket, enabling a shared source of truth for your codebase.</a:t>
            </a:r>
          </a:p>
        </p:txBody>
      </p:sp>
      <p:grpSp>
        <p:nvGrpSpPr>
          <p:cNvPr name="Group 8" id="8"/>
          <p:cNvGrpSpPr/>
          <p:nvPr/>
        </p:nvGrpSpPr>
        <p:grpSpPr>
          <a:xfrm rot="0">
            <a:off x="992238" y="3408461"/>
            <a:ext cx="16303526" cy="4741069"/>
            <a:chOff x="0" y="0"/>
            <a:chExt cx="21738035" cy="6321425"/>
          </a:xfrm>
        </p:grpSpPr>
        <p:sp>
          <p:nvSpPr>
            <p:cNvPr name="Freeform 9" id="9"/>
            <p:cNvSpPr/>
            <p:nvPr/>
          </p:nvSpPr>
          <p:spPr>
            <a:xfrm flipH="false" flipV="false" rot="0">
              <a:off x="0" y="0"/>
              <a:ext cx="21738082" cy="6321425"/>
            </a:xfrm>
            <a:custGeom>
              <a:avLst/>
              <a:gdLst/>
              <a:ahLst/>
              <a:cxnLst/>
              <a:rect r="r" b="b" t="t" l="l"/>
              <a:pathLst>
                <a:path h="6321425" w="21738082">
                  <a:moveTo>
                    <a:pt x="0" y="49657"/>
                  </a:moveTo>
                  <a:cubicBezTo>
                    <a:pt x="0" y="22225"/>
                    <a:pt x="22225" y="0"/>
                    <a:pt x="49657" y="0"/>
                  </a:cubicBezTo>
                  <a:lnTo>
                    <a:pt x="21688425" y="0"/>
                  </a:lnTo>
                  <a:cubicBezTo>
                    <a:pt x="21715857" y="0"/>
                    <a:pt x="21738082" y="22225"/>
                    <a:pt x="21738082" y="49657"/>
                  </a:cubicBezTo>
                  <a:lnTo>
                    <a:pt x="21738082" y="6271768"/>
                  </a:lnTo>
                  <a:cubicBezTo>
                    <a:pt x="21738082" y="6299200"/>
                    <a:pt x="21715857" y="6321425"/>
                    <a:pt x="21688425" y="6321425"/>
                  </a:cubicBezTo>
                  <a:lnTo>
                    <a:pt x="49657" y="6321425"/>
                  </a:lnTo>
                  <a:cubicBezTo>
                    <a:pt x="22225" y="6321425"/>
                    <a:pt x="0" y="6299200"/>
                    <a:pt x="0" y="6271768"/>
                  </a:cubicBezTo>
                  <a:close/>
                </a:path>
              </a:pathLst>
            </a:custGeom>
            <a:solidFill>
              <a:srgbClr val="404245"/>
            </a:solidFill>
            <a:ln w="12700">
              <a:solidFill>
                <a:srgbClr val="000000"/>
              </a:solidFill>
            </a:ln>
          </p:spPr>
        </p:sp>
      </p:grpSp>
      <p:grpSp>
        <p:nvGrpSpPr>
          <p:cNvPr name="Group 10" id="10"/>
          <p:cNvGrpSpPr/>
          <p:nvPr/>
        </p:nvGrpSpPr>
        <p:grpSpPr>
          <a:xfrm rot="0">
            <a:off x="992238" y="3408461"/>
            <a:ext cx="8151762" cy="4741069"/>
            <a:chOff x="0" y="0"/>
            <a:chExt cx="10869017" cy="6321425"/>
          </a:xfrm>
        </p:grpSpPr>
        <p:sp>
          <p:nvSpPr>
            <p:cNvPr name="Freeform 11" id="11"/>
            <p:cNvSpPr/>
            <p:nvPr/>
          </p:nvSpPr>
          <p:spPr>
            <a:xfrm flipH="false" flipV="false" rot="0">
              <a:off x="0" y="0"/>
              <a:ext cx="10869040" cy="6321425"/>
            </a:xfrm>
            <a:custGeom>
              <a:avLst/>
              <a:gdLst/>
              <a:ahLst/>
              <a:cxnLst/>
              <a:rect r="r" b="b" t="t" l="l"/>
              <a:pathLst>
                <a:path h="6321425" w="10869040">
                  <a:moveTo>
                    <a:pt x="0" y="49657"/>
                  </a:moveTo>
                  <a:cubicBezTo>
                    <a:pt x="0" y="22225"/>
                    <a:pt x="22225" y="0"/>
                    <a:pt x="49657" y="0"/>
                  </a:cubicBezTo>
                  <a:lnTo>
                    <a:pt x="10819384" y="0"/>
                  </a:lnTo>
                  <a:cubicBezTo>
                    <a:pt x="10846815" y="0"/>
                    <a:pt x="10869040" y="22225"/>
                    <a:pt x="10869040" y="49657"/>
                  </a:cubicBezTo>
                  <a:lnTo>
                    <a:pt x="10869040" y="6271768"/>
                  </a:lnTo>
                  <a:cubicBezTo>
                    <a:pt x="10869040" y="6299200"/>
                    <a:pt x="10846815" y="6321425"/>
                    <a:pt x="10819384" y="6321425"/>
                  </a:cubicBezTo>
                  <a:lnTo>
                    <a:pt x="49657" y="6321425"/>
                  </a:lnTo>
                  <a:cubicBezTo>
                    <a:pt x="22225" y="6321425"/>
                    <a:pt x="0" y="6299200"/>
                    <a:pt x="0" y="6271768"/>
                  </a:cubicBezTo>
                  <a:close/>
                </a:path>
              </a:pathLst>
            </a:custGeom>
            <a:solidFill>
              <a:srgbClr val="404245"/>
            </a:solidFill>
            <a:ln w="12700">
              <a:solidFill>
                <a:srgbClr val="000000"/>
              </a:solidFill>
            </a:ln>
          </p:spPr>
        </p:sp>
      </p:grpSp>
      <p:sp>
        <p:nvSpPr>
          <p:cNvPr name="TextBox 12" id="12"/>
          <p:cNvSpPr txBox="true"/>
          <p:nvPr/>
        </p:nvSpPr>
        <p:spPr>
          <a:xfrm rot="0">
            <a:off x="1240185" y="3656410"/>
            <a:ext cx="4149775" cy="387698"/>
          </a:xfrm>
          <a:prstGeom prst="rect">
            <a:avLst/>
          </a:prstGeom>
        </p:spPr>
        <p:txBody>
          <a:bodyPr anchor="t" rtlCol="false" tIns="0" lIns="0" bIns="0" rIns="0">
            <a:spAutoFit/>
          </a:bodyPr>
          <a:lstStyle/>
          <a:p>
            <a:pPr algn="l">
              <a:lnSpc>
                <a:spcPts val="2999"/>
              </a:lnSpc>
            </a:pPr>
            <a:r>
              <a:rPr lang="en-US" sz="2437">
                <a:solidFill>
                  <a:srgbClr val="FFFFFF"/>
                </a:solidFill>
                <a:latin typeface="Prata"/>
                <a:ea typeface="Prata"/>
                <a:cs typeface="Prata"/>
                <a:sym typeface="Prata"/>
              </a:rPr>
              <a:t>git remote add origin </a:t>
            </a:r>
            <a:r>
              <a:rPr lang="en-US" sz="2437">
                <a:solidFill>
                  <a:srgbClr val="BE6841"/>
                </a:solidFill>
                <a:latin typeface="Prata"/>
                <a:ea typeface="Prata"/>
                <a:cs typeface="Prata"/>
                <a:sym typeface="Prata"/>
              </a:rPr>
              <a:t>&lt;URL&gt;</a:t>
            </a:r>
          </a:p>
        </p:txBody>
      </p:sp>
      <p:sp>
        <p:nvSpPr>
          <p:cNvPr name="TextBox 13" id="13"/>
          <p:cNvSpPr txBox="true"/>
          <p:nvPr/>
        </p:nvSpPr>
        <p:spPr>
          <a:xfrm rot="0">
            <a:off x="1240185" y="4097685"/>
            <a:ext cx="7655868" cy="2476798"/>
          </a:xfrm>
          <a:prstGeom prst="rect">
            <a:avLst/>
          </a:prstGeom>
        </p:spPr>
        <p:txBody>
          <a:bodyPr anchor="t" rtlCol="false" tIns="0" lIns="0" bIns="0" rIns="0">
            <a:spAutoFit/>
          </a:bodyPr>
          <a:lstStyle/>
          <a:p>
            <a:pPr algn="l">
              <a:lnSpc>
                <a:spcPts val="3125"/>
              </a:lnSpc>
            </a:pPr>
            <a:r>
              <a:rPr lang="en-US" sz="1937">
                <a:solidFill>
                  <a:srgbClr val="FFFFFF"/>
                </a:solidFill>
                <a:latin typeface="Arimo"/>
                <a:ea typeface="Arimo"/>
                <a:cs typeface="Arimo"/>
                <a:sym typeface="Arimo"/>
              </a:rPr>
              <a:t>This command establishes a connection between your local repository and a remote one. origin is a conventional alias for the main remote repository, making commands shorter and easier to remember. The &lt;URL&gt; points to the location of your remote repository (e.g., https://github.com/user/repo.git or an SSH address).</a:t>
            </a:r>
          </a:p>
        </p:txBody>
      </p:sp>
      <p:grpSp>
        <p:nvGrpSpPr>
          <p:cNvPr name="Group 14" id="14"/>
          <p:cNvGrpSpPr/>
          <p:nvPr/>
        </p:nvGrpSpPr>
        <p:grpSpPr>
          <a:xfrm rot="0">
            <a:off x="9144000" y="3408461"/>
            <a:ext cx="8151762" cy="4741069"/>
            <a:chOff x="0" y="0"/>
            <a:chExt cx="10869017" cy="6321425"/>
          </a:xfrm>
        </p:grpSpPr>
        <p:sp>
          <p:nvSpPr>
            <p:cNvPr name="Freeform 15" id="15"/>
            <p:cNvSpPr/>
            <p:nvPr/>
          </p:nvSpPr>
          <p:spPr>
            <a:xfrm flipH="false" flipV="false" rot="0">
              <a:off x="0" y="0"/>
              <a:ext cx="10869041" cy="6321425"/>
            </a:xfrm>
            <a:custGeom>
              <a:avLst/>
              <a:gdLst/>
              <a:ahLst/>
              <a:cxnLst/>
              <a:rect r="r" b="b" t="t" l="l"/>
              <a:pathLst>
                <a:path h="6321425" w="10869041">
                  <a:moveTo>
                    <a:pt x="0" y="0"/>
                  </a:moveTo>
                  <a:lnTo>
                    <a:pt x="10869041" y="0"/>
                  </a:lnTo>
                  <a:lnTo>
                    <a:pt x="10869041" y="6321425"/>
                  </a:lnTo>
                  <a:lnTo>
                    <a:pt x="0" y="6321425"/>
                  </a:lnTo>
                  <a:close/>
                </a:path>
              </a:pathLst>
            </a:custGeom>
            <a:solidFill>
              <a:srgbClr val="404245"/>
            </a:solidFill>
            <a:ln w="12700">
              <a:solidFill>
                <a:srgbClr val="000000"/>
              </a:solidFill>
            </a:ln>
          </p:spPr>
        </p:sp>
      </p:grpSp>
      <p:grpSp>
        <p:nvGrpSpPr>
          <p:cNvPr name="Group 16" id="16"/>
          <p:cNvGrpSpPr/>
          <p:nvPr/>
        </p:nvGrpSpPr>
        <p:grpSpPr>
          <a:xfrm rot="0">
            <a:off x="9144000" y="3408461"/>
            <a:ext cx="28575" cy="4741069"/>
            <a:chOff x="0" y="0"/>
            <a:chExt cx="38100" cy="6321425"/>
          </a:xfrm>
        </p:grpSpPr>
        <p:sp>
          <p:nvSpPr>
            <p:cNvPr name="Freeform 17" id="17"/>
            <p:cNvSpPr/>
            <p:nvPr/>
          </p:nvSpPr>
          <p:spPr>
            <a:xfrm flipH="false" flipV="false" rot="0">
              <a:off x="0" y="0"/>
              <a:ext cx="38100" cy="6321425"/>
            </a:xfrm>
            <a:custGeom>
              <a:avLst/>
              <a:gdLst/>
              <a:ahLst/>
              <a:cxnLst/>
              <a:rect r="r" b="b" t="t" l="l"/>
              <a:pathLst>
                <a:path h="6321425" w="38100">
                  <a:moveTo>
                    <a:pt x="0" y="19050"/>
                  </a:moveTo>
                  <a:cubicBezTo>
                    <a:pt x="0" y="8509"/>
                    <a:pt x="8509" y="0"/>
                    <a:pt x="19050" y="0"/>
                  </a:cubicBezTo>
                  <a:cubicBezTo>
                    <a:pt x="29591" y="0"/>
                    <a:pt x="38100" y="8509"/>
                    <a:pt x="38100" y="19050"/>
                  </a:cubicBezTo>
                  <a:lnTo>
                    <a:pt x="38100" y="6302375"/>
                  </a:lnTo>
                  <a:cubicBezTo>
                    <a:pt x="38100" y="6312916"/>
                    <a:pt x="29591" y="6321425"/>
                    <a:pt x="19050" y="6321425"/>
                  </a:cubicBezTo>
                  <a:cubicBezTo>
                    <a:pt x="8509" y="6321425"/>
                    <a:pt x="0" y="6312916"/>
                    <a:pt x="0" y="6302375"/>
                  </a:cubicBezTo>
                  <a:close/>
                </a:path>
              </a:pathLst>
            </a:custGeom>
            <a:solidFill>
              <a:srgbClr val="595B5E"/>
            </a:solidFill>
            <a:ln w="12700">
              <a:solidFill>
                <a:srgbClr val="000000"/>
              </a:solidFill>
            </a:ln>
          </p:spPr>
        </p:sp>
      </p:grpSp>
      <p:sp>
        <p:nvSpPr>
          <p:cNvPr name="TextBox 18" id="18"/>
          <p:cNvSpPr txBox="true"/>
          <p:nvPr/>
        </p:nvSpPr>
        <p:spPr>
          <a:xfrm rot="0">
            <a:off x="9391947" y="3656410"/>
            <a:ext cx="3101131" cy="387698"/>
          </a:xfrm>
          <a:prstGeom prst="rect">
            <a:avLst/>
          </a:prstGeom>
        </p:spPr>
        <p:txBody>
          <a:bodyPr anchor="t" rtlCol="false" tIns="0" lIns="0" bIns="0" rIns="0">
            <a:spAutoFit/>
          </a:bodyPr>
          <a:lstStyle/>
          <a:p>
            <a:pPr algn="l">
              <a:lnSpc>
                <a:spcPts val="2999"/>
              </a:lnSpc>
            </a:pPr>
            <a:r>
              <a:rPr lang="en-US" sz="2437">
                <a:solidFill>
                  <a:srgbClr val="FFFFFF"/>
                </a:solidFill>
                <a:latin typeface="Prata"/>
                <a:ea typeface="Prata"/>
                <a:cs typeface="Prata"/>
                <a:sym typeface="Prata"/>
              </a:rPr>
              <a:t>git push</a:t>
            </a:r>
          </a:p>
        </p:txBody>
      </p:sp>
      <p:sp>
        <p:nvSpPr>
          <p:cNvPr name="TextBox 19" id="19"/>
          <p:cNvSpPr txBox="true"/>
          <p:nvPr/>
        </p:nvSpPr>
        <p:spPr>
          <a:xfrm rot="0">
            <a:off x="9391947" y="4097685"/>
            <a:ext cx="7655867" cy="1682949"/>
          </a:xfrm>
          <a:prstGeom prst="rect">
            <a:avLst/>
          </a:prstGeom>
        </p:spPr>
        <p:txBody>
          <a:bodyPr anchor="t" rtlCol="false" tIns="0" lIns="0" bIns="0" rIns="0">
            <a:spAutoFit/>
          </a:bodyPr>
          <a:lstStyle/>
          <a:p>
            <a:pPr algn="l">
              <a:lnSpc>
                <a:spcPts val="3125"/>
              </a:lnSpc>
            </a:pPr>
            <a:r>
              <a:rPr lang="en-US" sz="1937">
                <a:solidFill>
                  <a:srgbClr val="FFFFFF"/>
                </a:solidFill>
                <a:latin typeface="Arimo"/>
                <a:ea typeface="Arimo"/>
                <a:cs typeface="Arimo"/>
                <a:sym typeface="Arimo"/>
              </a:rPr>
              <a:t>Once linked, git push is used to upload your committed local changes to the specified remote branch. This makes your work accessible to others and backs up your progress. For the very first push of a new branch, you typically use:</a:t>
            </a:r>
          </a:p>
        </p:txBody>
      </p:sp>
      <p:grpSp>
        <p:nvGrpSpPr>
          <p:cNvPr name="Group 20" id="20"/>
          <p:cNvGrpSpPr/>
          <p:nvPr/>
        </p:nvGrpSpPr>
        <p:grpSpPr>
          <a:xfrm rot="0">
            <a:off x="9391947" y="6059686"/>
            <a:ext cx="7655867" cy="768995"/>
            <a:chOff x="0" y="0"/>
            <a:chExt cx="10207823" cy="1025327"/>
          </a:xfrm>
        </p:grpSpPr>
        <p:sp>
          <p:nvSpPr>
            <p:cNvPr name="Freeform 21" id="21"/>
            <p:cNvSpPr/>
            <p:nvPr/>
          </p:nvSpPr>
          <p:spPr>
            <a:xfrm flipH="false" flipV="false" rot="0">
              <a:off x="0" y="0"/>
              <a:ext cx="10207878" cy="1025398"/>
            </a:xfrm>
            <a:custGeom>
              <a:avLst/>
              <a:gdLst/>
              <a:ahLst/>
              <a:cxnLst/>
              <a:rect r="r" b="b" t="t" l="l"/>
              <a:pathLst>
                <a:path h="1025398" w="10207878">
                  <a:moveTo>
                    <a:pt x="0" y="49657"/>
                  </a:moveTo>
                  <a:cubicBezTo>
                    <a:pt x="0" y="22225"/>
                    <a:pt x="22225" y="0"/>
                    <a:pt x="49657" y="0"/>
                  </a:cubicBezTo>
                  <a:lnTo>
                    <a:pt x="10158222" y="0"/>
                  </a:lnTo>
                  <a:cubicBezTo>
                    <a:pt x="10185653" y="0"/>
                    <a:pt x="10207878" y="22225"/>
                    <a:pt x="10207878" y="49657"/>
                  </a:cubicBezTo>
                  <a:lnTo>
                    <a:pt x="10207878" y="975741"/>
                  </a:lnTo>
                  <a:cubicBezTo>
                    <a:pt x="10207878" y="1003173"/>
                    <a:pt x="10185653" y="1025398"/>
                    <a:pt x="10158222" y="1025398"/>
                  </a:cubicBezTo>
                  <a:lnTo>
                    <a:pt x="49657" y="1025398"/>
                  </a:lnTo>
                  <a:cubicBezTo>
                    <a:pt x="22225" y="1025271"/>
                    <a:pt x="0" y="1003173"/>
                    <a:pt x="0" y="975741"/>
                  </a:cubicBezTo>
                  <a:close/>
                </a:path>
              </a:pathLst>
            </a:custGeom>
            <a:solidFill>
              <a:srgbClr val="2E3033"/>
            </a:solidFill>
            <a:ln w="12700">
              <a:solidFill>
                <a:srgbClr val="000000"/>
              </a:solidFill>
            </a:ln>
          </p:spPr>
        </p:sp>
      </p:grpSp>
      <p:grpSp>
        <p:nvGrpSpPr>
          <p:cNvPr name="Group 22" id="22"/>
          <p:cNvGrpSpPr/>
          <p:nvPr/>
        </p:nvGrpSpPr>
        <p:grpSpPr>
          <a:xfrm rot="0">
            <a:off x="9379595" y="6059686"/>
            <a:ext cx="7680572" cy="768995"/>
            <a:chOff x="0" y="0"/>
            <a:chExt cx="10240763" cy="1025327"/>
          </a:xfrm>
        </p:grpSpPr>
        <p:sp>
          <p:nvSpPr>
            <p:cNvPr name="Freeform 23" id="23"/>
            <p:cNvSpPr/>
            <p:nvPr/>
          </p:nvSpPr>
          <p:spPr>
            <a:xfrm flipH="false" flipV="false" rot="0">
              <a:off x="0" y="0"/>
              <a:ext cx="10240772" cy="1025398"/>
            </a:xfrm>
            <a:custGeom>
              <a:avLst/>
              <a:gdLst/>
              <a:ahLst/>
              <a:cxnLst/>
              <a:rect r="r" b="b" t="t" l="l"/>
              <a:pathLst>
                <a:path h="1025398" w="10240772">
                  <a:moveTo>
                    <a:pt x="0" y="49657"/>
                  </a:moveTo>
                  <a:cubicBezTo>
                    <a:pt x="0" y="22225"/>
                    <a:pt x="22225" y="0"/>
                    <a:pt x="49657" y="0"/>
                  </a:cubicBezTo>
                  <a:lnTo>
                    <a:pt x="10191115" y="0"/>
                  </a:lnTo>
                  <a:cubicBezTo>
                    <a:pt x="10218547" y="0"/>
                    <a:pt x="10240772" y="22225"/>
                    <a:pt x="10240772" y="49657"/>
                  </a:cubicBezTo>
                  <a:lnTo>
                    <a:pt x="10240772" y="975741"/>
                  </a:lnTo>
                  <a:cubicBezTo>
                    <a:pt x="10240772" y="1003173"/>
                    <a:pt x="10218547" y="1025398"/>
                    <a:pt x="10191115" y="1025398"/>
                  </a:cubicBezTo>
                  <a:lnTo>
                    <a:pt x="49657" y="1025398"/>
                  </a:lnTo>
                  <a:cubicBezTo>
                    <a:pt x="22225" y="1025271"/>
                    <a:pt x="0" y="1003173"/>
                    <a:pt x="0" y="975741"/>
                  </a:cubicBezTo>
                  <a:close/>
                </a:path>
              </a:pathLst>
            </a:custGeom>
            <a:solidFill>
              <a:srgbClr val="2E3033"/>
            </a:solidFill>
            <a:ln w="12700">
              <a:solidFill>
                <a:srgbClr val="000000"/>
              </a:solidFill>
            </a:ln>
          </p:spPr>
        </p:sp>
      </p:grpSp>
      <p:sp>
        <p:nvSpPr>
          <p:cNvPr name="TextBox 24" id="24"/>
          <p:cNvSpPr txBox="true"/>
          <p:nvPr/>
        </p:nvSpPr>
        <p:spPr>
          <a:xfrm rot="0">
            <a:off x="9627542" y="6121896"/>
            <a:ext cx="7184677" cy="520750"/>
          </a:xfrm>
          <a:prstGeom prst="rect">
            <a:avLst/>
          </a:prstGeom>
        </p:spPr>
        <p:txBody>
          <a:bodyPr anchor="t" rtlCol="false" tIns="0" lIns="0" bIns="0" rIns="0">
            <a:spAutoFit/>
          </a:bodyPr>
          <a:lstStyle/>
          <a:p>
            <a:pPr algn="l">
              <a:lnSpc>
                <a:spcPts val="3125"/>
              </a:lnSpc>
            </a:pPr>
            <a:r>
              <a:rPr lang="en-US" sz="1937">
                <a:solidFill>
                  <a:srgbClr val="FFFFFF"/>
                </a:solidFill>
                <a:latin typeface="Consolas"/>
                <a:ea typeface="Consolas"/>
                <a:cs typeface="Consolas"/>
                <a:sym typeface="Consolas"/>
              </a:rPr>
              <a:t>git push --set-upstream origin &lt;branchname&gt;</a:t>
            </a:r>
          </a:p>
        </p:txBody>
      </p:sp>
      <p:sp>
        <p:nvSpPr>
          <p:cNvPr name="TextBox 25" id="25"/>
          <p:cNvSpPr txBox="true"/>
          <p:nvPr/>
        </p:nvSpPr>
        <p:spPr>
          <a:xfrm rot="0">
            <a:off x="9391947" y="7012484"/>
            <a:ext cx="7655867" cy="889099"/>
          </a:xfrm>
          <a:prstGeom prst="rect">
            <a:avLst/>
          </a:prstGeom>
        </p:spPr>
        <p:txBody>
          <a:bodyPr anchor="t" rtlCol="false" tIns="0" lIns="0" bIns="0" rIns="0">
            <a:spAutoFit/>
          </a:bodyPr>
          <a:lstStyle/>
          <a:p>
            <a:pPr algn="l">
              <a:lnSpc>
                <a:spcPts val="3125"/>
              </a:lnSpc>
            </a:pPr>
            <a:r>
              <a:rPr lang="en-US" sz="1937">
                <a:solidFill>
                  <a:srgbClr val="FFFFFF"/>
                </a:solidFill>
                <a:latin typeface="Arimo"/>
                <a:ea typeface="Arimo"/>
                <a:cs typeface="Arimo"/>
                <a:sym typeface="Arimo"/>
              </a:rPr>
              <a:t>This command sets up the upstream tracking reference, meaning Git knows which remote branch your local branch corresponds to.</a:t>
            </a:r>
          </a:p>
        </p:txBody>
      </p:sp>
      <p:sp>
        <p:nvSpPr>
          <p:cNvPr name="TextBox 26" id="26"/>
          <p:cNvSpPr txBox="true"/>
          <p:nvPr/>
        </p:nvSpPr>
        <p:spPr>
          <a:xfrm rot="0">
            <a:off x="992238" y="8333334"/>
            <a:ext cx="16303526" cy="889099"/>
          </a:xfrm>
          <a:prstGeom prst="rect">
            <a:avLst/>
          </a:prstGeom>
        </p:spPr>
        <p:txBody>
          <a:bodyPr anchor="t" rtlCol="false" tIns="0" lIns="0" bIns="0" rIns="0">
            <a:spAutoFit/>
          </a:bodyPr>
          <a:lstStyle/>
          <a:p>
            <a:pPr algn="l">
              <a:lnSpc>
                <a:spcPts val="3125"/>
              </a:lnSpc>
            </a:pPr>
            <a:r>
              <a:rPr lang="en-US" sz="1937">
                <a:solidFill>
                  <a:srgbClr val="BDA189"/>
                </a:solidFill>
                <a:latin typeface="Arimo"/>
                <a:ea typeface="Arimo"/>
                <a:cs typeface="Arimo"/>
                <a:sym typeface="Arimo"/>
              </a:rPr>
              <a:t>This foundational step moves your work from the confines of your local machine to a shared, centralized location, enabling team collaboration and secure storage of your project's history.</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3171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12326"/>
            </a:solidFill>
            <a:ln w="12700">
              <a:solidFill>
                <a:srgbClr val="000000"/>
              </a:solidFill>
            </a:ln>
          </p:spPr>
        </p:sp>
      </p:grpSp>
      <p:sp>
        <p:nvSpPr>
          <p:cNvPr name="TextBox 6" id="6"/>
          <p:cNvSpPr txBox="true"/>
          <p:nvPr/>
        </p:nvSpPr>
        <p:spPr>
          <a:xfrm rot="0">
            <a:off x="923925" y="1016199"/>
            <a:ext cx="14725352" cy="740866"/>
          </a:xfrm>
          <a:prstGeom prst="rect">
            <a:avLst/>
          </a:prstGeom>
        </p:spPr>
        <p:txBody>
          <a:bodyPr anchor="t" rtlCol="false" tIns="0" lIns="0" bIns="0" rIns="0">
            <a:spAutoFit/>
          </a:bodyPr>
          <a:lstStyle/>
          <a:p>
            <a:pPr algn="l">
              <a:lnSpc>
                <a:spcPts val="5625"/>
              </a:lnSpc>
            </a:pPr>
            <a:r>
              <a:rPr lang="en-US" sz="4499">
                <a:solidFill>
                  <a:srgbClr val="F2D4BA"/>
                </a:solidFill>
                <a:latin typeface="Prata"/>
                <a:ea typeface="Prata"/>
                <a:cs typeface="Prata"/>
                <a:sym typeface="Prata"/>
              </a:rPr>
              <a:t>Keeping Local Updated: git pull &amp; git fetch + git merge</a:t>
            </a:r>
          </a:p>
        </p:txBody>
      </p:sp>
      <p:sp>
        <p:nvSpPr>
          <p:cNvPr name="TextBox 7" id="7"/>
          <p:cNvSpPr txBox="true"/>
          <p:nvPr/>
        </p:nvSpPr>
        <p:spPr>
          <a:xfrm rot="0">
            <a:off x="923925" y="2133303"/>
            <a:ext cx="16440150" cy="824805"/>
          </a:xfrm>
          <a:prstGeom prst="rect">
            <a:avLst/>
          </a:prstGeom>
        </p:spPr>
        <p:txBody>
          <a:bodyPr anchor="t" rtlCol="false" tIns="0" lIns="0" bIns="0" rIns="0">
            <a:spAutoFit/>
          </a:bodyPr>
          <a:lstStyle/>
          <a:p>
            <a:pPr algn="l">
              <a:lnSpc>
                <a:spcPts val="2875"/>
              </a:lnSpc>
            </a:pPr>
            <a:r>
              <a:rPr lang="en-US" sz="1812">
                <a:solidFill>
                  <a:srgbClr val="BDA189"/>
                </a:solidFill>
                <a:latin typeface="Arimo"/>
                <a:ea typeface="Arimo"/>
                <a:cs typeface="Arimo"/>
                <a:sym typeface="Arimo"/>
              </a:rPr>
              <a:t>In a collaborative environment, remote repositories are constantly being updated by team members. To ensure your local codebase is current and to avoid conflicts, you need mechanisms to bring those remote changes into your local environment.</a:t>
            </a:r>
          </a:p>
        </p:txBody>
      </p:sp>
      <p:sp>
        <p:nvSpPr>
          <p:cNvPr name="TextBox 8" id="8"/>
          <p:cNvSpPr txBox="true"/>
          <p:nvPr/>
        </p:nvSpPr>
        <p:spPr>
          <a:xfrm rot="0">
            <a:off x="923925" y="3429893"/>
            <a:ext cx="6239024" cy="452140"/>
          </a:xfrm>
          <a:prstGeom prst="rect">
            <a:avLst/>
          </a:prstGeom>
        </p:spPr>
        <p:txBody>
          <a:bodyPr anchor="t" rtlCol="false" tIns="0" lIns="0" bIns="0" rIns="0">
            <a:spAutoFit/>
          </a:bodyPr>
          <a:lstStyle/>
          <a:p>
            <a:pPr algn="l">
              <a:lnSpc>
                <a:spcPts val="3374"/>
              </a:lnSpc>
            </a:pPr>
            <a:r>
              <a:rPr lang="en-US" sz="2687">
                <a:solidFill>
                  <a:srgbClr val="F2D4BA"/>
                </a:solidFill>
                <a:latin typeface="Prata"/>
                <a:ea typeface="Prata"/>
                <a:cs typeface="Prata"/>
                <a:sym typeface="Prata"/>
              </a:rPr>
              <a:t>git pull: The Convenient Synchroniser</a:t>
            </a:r>
          </a:p>
        </p:txBody>
      </p:sp>
      <p:sp>
        <p:nvSpPr>
          <p:cNvPr name="TextBox 9" id="9"/>
          <p:cNvSpPr txBox="true"/>
          <p:nvPr/>
        </p:nvSpPr>
        <p:spPr>
          <a:xfrm rot="0">
            <a:off x="923925" y="4027289"/>
            <a:ext cx="7938344" cy="455265"/>
          </a:xfrm>
          <a:prstGeom prst="rect">
            <a:avLst/>
          </a:prstGeom>
        </p:spPr>
        <p:txBody>
          <a:bodyPr anchor="t" rtlCol="false" tIns="0" lIns="0" bIns="0" rIns="0">
            <a:spAutoFit/>
          </a:bodyPr>
          <a:lstStyle/>
          <a:p>
            <a:pPr algn="l">
              <a:lnSpc>
                <a:spcPts val="2875"/>
              </a:lnSpc>
            </a:pPr>
            <a:r>
              <a:rPr lang="en-US" sz="1812">
                <a:solidFill>
                  <a:srgbClr val="BDA189"/>
                </a:solidFill>
                <a:latin typeface="Arimo"/>
                <a:ea typeface="Arimo"/>
                <a:cs typeface="Arimo"/>
                <a:sym typeface="Arimo"/>
              </a:rPr>
              <a:t>git pull is a composite command that performs two actions in one go:</a:t>
            </a:r>
          </a:p>
        </p:txBody>
      </p:sp>
      <p:sp>
        <p:nvSpPr>
          <p:cNvPr name="TextBox 10" id="10"/>
          <p:cNvSpPr txBox="true"/>
          <p:nvPr/>
        </p:nvSpPr>
        <p:spPr>
          <a:xfrm rot="0">
            <a:off x="933450" y="4604594"/>
            <a:ext cx="7938344" cy="824805"/>
          </a:xfrm>
          <a:prstGeom prst="rect">
            <a:avLst/>
          </a:prstGeom>
        </p:spPr>
        <p:txBody>
          <a:bodyPr anchor="t" rtlCol="false" tIns="0" lIns="0" bIns="0" rIns="0">
            <a:spAutoFit/>
          </a:bodyPr>
          <a:lstStyle/>
          <a:p>
            <a:pPr algn="l" marL="273348" indent="-136674" lvl="1">
              <a:lnSpc>
                <a:spcPts val="2875"/>
              </a:lnSpc>
              <a:buFont typeface="Arial"/>
              <a:buChar char="•"/>
            </a:pPr>
            <a:r>
              <a:rPr lang="en-US" b="true" sz="1812">
                <a:solidFill>
                  <a:srgbClr val="BDA189"/>
                </a:solidFill>
                <a:latin typeface="Arimo Bold"/>
                <a:ea typeface="Arimo Bold"/>
                <a:cs typeface="Arimo Bold"/>
                <a:sym typeface="Arimo Bold"/>
              </a:rPr>
              <a:t>git fetch:</a:t>
            </a:r>
            <a:r>
              <a:rPr lang="en-US" sz="1812">
                <a:solidFill>
                  <a:srgbClr val="BDA189"/>
                </a:solidFill>
                <a:latin typeface="Arimo"/>
                <a:ea typeface="Arimo"/>
                <a:cs typeface="Arimo"/>
                <a:sym typeface="Arimo"/>
              </a:rPr>
              <a:t> It first downloads all the latest changes and commits from the remote repository that you don't have locally.</a:t>
            </a:r>
          </a:p>
        </p:txBody>
      </p:sp>
      <p:sp>
        <p:nvSpPr>
          <p:cNvPr name="TextBox 11" id="11"/>
          <p:cNvSpPr txBox="true"/>
          <p:nvPr/>
        </p:nvSpPr>
        <p:spPr>
          <a:xfrm rot="0">
            <a:off x="923925" y="5424487"/>
            <a:ext cx="7938344" cy="824805"/>
          </a:xfrm>
          <a:prstGeom prst="rect">
            <a:avLst/>
          </a:prstGeom>
        </p:spPr>
        <p:txBody>
          <a:bodyPr anchor="t" rtlCol="false" tIns="0" lIns="0" bIns="0" rIns="0">
            <a:spAutoFit/>
          </a:bodyPr>
          <a:lstStyle/>
          <a:p>
            <a:pPr algn="l" marL="273348" indent="-136674" lvl="1">
              <a:lnSpc>
                <a:spcPts val="2875"/>
              </a:lnSpc>
              <a:buFont typeface="Arial"/>
              <a:buChar char="•"/>
            </a:pPr>
            <a:r>
              <a:rPr lang="en-US" b="true" sz="1812">
                <a:solidFill>
                  <a:srgbClr val="BDA189"/>
                </a:solidFill>
                <a:latin typeface="Arimo Bold"/>
                <a:ea typeface="Arimo Bold"/>
                <a:cs typeface="Arimo Bold"/>
                <a:sym typeface="Arimo Bold"/>
              </a:rPr>
              <a:t>git merge:</a:t>
            </a:r>
            <a:r>
              <a:rPr lang="en-US" sz="1812">
                <a:solidFill>
                  <a:srgbClr val="BDA189"/>
                </a:solidFill>
                <a:latin typeface="Arimo"/>
                <a:ea typeface="Arimo"/>
                <a:cs typeface="Arimo"/>
                <a:sym typeface="Arimo"/>
              </a:rPr>
              <a:t> Subsequently, it automatically merges these fetched changes into your current local branch.</a:t>
            </a:r>
          </a:p>
        </p:txBody>
      </p:sp>
      <p:sp>
        <p:nvSpPr>
          <p:cNvPr name="TextBox 12" id="12"/>
          <p:cNvSpPr txBox="true"/>
          <p:nvPr/>
        </p:nvSpPr>
        <p:spPr>
          <a:xfrm rot="0">
            <a:off x="923925" y="6371333"/>
            <a:ext cx="7938344" cy="824805"/>
          </a:xfrm>
          <a:prstGeom prst="rect">
            <a:avLst/>
          </a:prstGeom>
        </p:spPr>
        <p:txBody>
          <a:bodyPr anchor="t" rtlCol="false" tIns="0" lIns="0" bIns="0" rIns="0">
            <a:spAutoFit/>
          </a:bodyPr>
          <a:lstStyle/>
          <a:p>
            <a:pPr algn="l">
              <a:lnSpc>
                <a:spcPts val="2875"/>
              </a:lnSpc>
            </a:pPr>
            <a:r>
              <a:rPr lang="en-US" sz="1812">
                <a:solidFill>
                  <a:srgbClr val="BDA189"/>
                </a:solidFill>
                <a:latin typeface="Arimo"/>
                <a:ea typeface="Arimo"/>
                <a:cs typeface="Arimo"/>
                <a:sym typeface="Arimo"/>
              </a:rPr>
              <a:t>This command is convenient for quickly updating your local branch with remote changes, assuming a straightforward merge.</a:t>
            </a:r>
          </a:p>
        </p:txBody>
      </p:sp>
      <p:sp>
        <p:nvSpPr>
          <p:cNvPr name="TextBox 13" id="13"/>
          <p:cNvSpPr txBox="true"/>
          <p:nvPr/>
        </p:nvSpPr>
        <p:spPr>
          <a:xfrm rot="0">
            <a:off x="9435256" y="3429893"/>
            <a:ext cx="7622976" cy="452140"/>
          </a:xfrm>
          <a:prstGeom prst="rect">
            <a:avLst/>
          </a:prstGeom>
        </p:spPr>
        <p:txBody>
          <a:bodyPr anchor="t" rtlCol="false" tIns="0" lIns="0" bIns="0" rIns="0">
            <a:spAutoFit/>
          </a:bodyPr>
          <a:lstStyle/>
          <a:p>
            <a:pPr algn="l">
              <a:lnSpc>
                <a:spcPts val="3374"/>
              </a:lnSpc>
            </a:pPr>
            <a:r>
              <a:rPr lang="en-US" sz="2687">
                <a:solidFill>
                  <a:srgbClr val="F2D4BA"/>
                </a:solidFill>
                <a:latin typeface="Prata"/>
                <a:ea typeface="Prata"/>
                <a:cs typeface="Prata"/>
                <a:sym typeface="Prata"/>
              </a:rPr>
              <a:t>git fetch + git merge: The Controlled Approach</a:t>
            </a:r>
          </a:p>
        </p:txBody>
      </p:sp>
      <p:sp>
        <p:nvSpPr>
          <p:cNvPr name="TextBox 14" id="14"/>
          <p:cNvSpPr txBox="true"/>
          <p:nvPr/>
        </p:nvSpPr>
        <p:spPr>
          <a:xfrm rot="0">
            <a:off x="9435256" y="4027289"/>
            <a:ext cx="7938344" cy="1194346"/>
          </a:xfrm>
          <a:prstGeom prst="rect">
            <a:avLst/>
          </a:prstGeom>
        </p:spPr>
        <p:txBody>
          <a:bodyPr anchor="t" rtlCol="false" tIns="0" lIns="0" bIns="0" rIns="0">
            <a:spAutoFit/>
          </a:bodyPr>
          <a:lstStyle/>
          <a:p>
            <a:pPr algn="l">
              <a:lnSpc>
                <a:spcPts val="2875"/>
              </a:lnSpc>
            </a:pPr>
            <a:r>
              <a:rPr lang="en-US" sz="1812">
                <a:solidFill>
                  <a:srgbClr val="BDA189"/>
                </a:solidFill>
                <a:latin typeface="Arimo"/>
                <a:ea typeface="Arimo"/>
                <a:cs typeface="Arimo"/>
                <a:sym typeface="Arimo"/>
              </a:rPr>
              <a:t>For more control, especially in complex scenarios or when you want to review changes before integrating them, you can separate the fetching and merging steps:</a:t>
            </a:r>
          </a:p>
        </p:txBody>
      </p:sp>
      <p:sp>
        <p:nvSpPr>
          <p:cNvPr name="TextBox 15" id="15"/>
          <p:cNvSpPr txBox="true"/>
          <p:nvPr/>
        </p:nvSpPr>
        <p:spPr>
          <a:xfrm rot="0">
            <a:off x="9435256" y="5343674"/>
            <a:ext cx="7938344" cy="1194346"/>
          </a:xfrm>
          <a:prstGeom prst="rect">
            <a:avLst/>
          </a:prstGeom>
        </p:spPr>
        <p:txBody>
          <a:bodyPr anchor="t" rtlCol="false" tIns="0" lIns="0" bIns="0" rIns="0">
            <a:spAutoFit/>
          </a:bodyPr>
          <a:lstStyle/>
          <a:p>
            <a:pPr algn="l" marL="273348" indent="-136674" lvl="1">
              <a:lnSpc>
                <a:spcPts val="2875"/>
              </a:lnSpc>
              <a:buFont typeface="Arial"/>
              <a:buChar char="•"/>
            </a:pPr>
            <a:r>
              <a:rPr lang="en-US" b="true" sz="1812">
                <a:solidFill>
                  <a:srgbClr val="BDA189"/>
                </a:solidFill>
                <a:latin typeface="Arimo Bold"/>
                <a:ea typeface="Arimo Bold"/>
                <a:cs typeface="Arimo Bold"/>
                <a:sym typeface="Arimo Bold"/>
              </a:rPr>
              <a:t>git fetch:</a:t>
            </a:r>
            <a:r>
              <a:rPr lang="en-US" sz="1812">
                <a:solidFill>
                  <a:srgbClr val="BDA189"/>
                </a:solidFill>
                <a:latin typeface="Arimo"/>
                <a:ea typeface="Arimo"/>
                <a:cs typeface="Arimo"/>
                <a:sym typeface="Arimo"/>
              </a:rPr>
              <a:t> Downloads remote updates to your local repository but does not integrate them into your working files. These changes are stored in a separate remote-tracking branch (e.g., origin/main).</a:t>
            </a:r>
          </a:p>
        </p:txBody>
      </p:sp>
      <p:sp>
        <p:nvSpPr>
          <p:cNvPr name="TextBox 16" id="16"/>
          <p:cNvSpPr txBox="true"/>
          <p:nvPr/>
        </p:nvSpPr>
        <p:spPr>
          <a:xfrm rot="0">
            <a:off x="9435256" y="6533109"/>
            <a:ext cx="7938344" cy="1194346"/>
          </a:xfrm>
          <a:prstGeom prst="rect">
            <a:avLst/>
          </a:prstGeom>
        </p:spPr>
        <p:txBody>
          <a:bodyPr anchor="t" rtlCol="false" tIns="0" lIns="0" bIns="0" rIns="0">
            <a:spAutoFit/>
          </a:bodyPr>
          <a:lstStyle/>
          <a:p>
            <a:pPr algn="l" marL="273348" indent="-136674" lvl="1">
              <a:lnSpc>
                <a:spcPts val="2875"/>
              </a:lnSpc>
              <a:buFont typeface="Arial"/>
              <a:buChar char="•"/>
            </a:pPr>
            <a:r>
              <a:rPr lang="en-US" b="true" sz="1812">
                <a:solidFill>
                  <a:srgbClr val="BDA189"/>
                </a:solidFill>
                <a:latin typeface="Arimo Bold"/>
                <a:ea typeface="Arimo Bold"/>
                <a:cs typeface="Arimo Bold"/>
                <a:sym typeface="Arimo Bold"/>
              </a:rPr>
              <a:t>git merge origin/&lt;branch&gt;:</a:t>
            </a:r>
            <a:r>
              <a:rPr lang="en-US" sz="1812">
                <a:solidFill>
                  <a:srgbClr val="BDA189"/>
                </a:solidFill>
                <a:latin typeface="Arimo"/>
                <a:ea typeface="Arimo"/>
                <a:cs typeface="Arimo"/>
                <a:sym typeface="Arimo"/>
              </a:rPr>
              <a:t> After inspecting the fetched changes, you can then manually merge them into your current local branch using this command.</a:t>
            </a:r>
          </a:p>
        </p:txBody>
      </p:sp>
      <p:sp>
        <p:nvSpPr>
          <p:cNvPr name="TextBox 17" id="17"/>
          <p:cNvSpPr txBox="true"/>
          <p:nvPr/>
        </p:nvSpPr>
        <p:spPr>
          <a:xfrm rot="0">
            <a:off x="9435256" y="7849492"/>
            <a:ext cx="7938344" cy="1194346"/>
          </a:xfrm>
          <a:prstGeom prst="rect">
            <a:avLst/>
          </a:prstGeom>
        </p:spPr>
        <p:txBody>
          <a:bodyPr anchor="t" rtlCol="false" tIns="0" lIns="0" bIns="0" rIns="0">
            <a:spAutoFit/>
          </a:bodyPr>
          <a:lstStyle/>
          <a:p>
            <a:pPr algn="l">
              <a:lnSpc>
                <a:spcPts val="2875"/>
              </a:lnSpc>
            </a:pPr>
            <a:r>
              <a:rPr lang="en-US" sz="1812">
                <a:solidFill>
                  <a:srgbClr val="BDA189"/>
                </a:solidFill>
                <a:latin typeface="Arimo"/>
                <a:ea typeface="Arimo"/>
                <a:cs typeface="Arimo"/>
                <a:sym typeface="Arimo"/>
              </a:rPr>
              <a:t>This two-step process provides an opportunity to examine incoming changes, compare them with your local work, and prepare for any potential merge conflicts.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3171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12326"/>
            </a:solidFill>
            <a:ln w="12700">
              <a:solidFill>
                <a:srgbClr val="000000"/>
              </a:solidFill>
            </a:ln>
          </p:spPr>
        </p:sp>
      </p:grpSp>
      <p:sp>
        <p:nvSpPr>
          <p:cNvPr name="TextBox 6" id="6"/>
          <p:cNvSpPr txBox="true"/>
          <p:nvPr/>
        </p:nvSpPr>
        <p:spPr>
          <a:xfrm rot="0">
            <a:off x="969912" y="647700"/>
            <a:ext cx="12625536" cy="776734"/>
          </a:xfrm>
          <a:prstGeom prst="rect">
            <a:avLst/>
          </a:prstGeom>
        </p:spPr>
        <p:txBody>
          <a:bodyPr anchor="t" rtlCol="false" tIns="0" lIns="0" bIns="0" rIns="0">
            <a:spAutoFit/>
          </a:bodyPr>
          <a:lstStyle/>
          <a:p>
            <a:pPr algn="l">
              <a:lnSpc>
                <a:spcPts val="5937"/>
              </a:lnSpc>
            </a:pPr>
            <a:r>
              <a:rPr lang="en-US" sz="4750">
                <a:solidFill>
                  <a:srgbClr val="F2D4BA"/>
                </a:solidFill>
                <a:latin typeface="Prata"/>
                <a:ea typeface="Prata"/>
                <a:cs typeface="Prata"/>
                <a:sym typeface="Prata"/>
              </a:rPr>
              <a:t>Branching Basics: git branch &amp; git checkout</a:t>
            </a:r>
          </a:p>
        </p:txBody>
      </p:sp>
      <p:sp>
        <p:nvSpPr>
          <p:cNvPr name="TextBox 7" id="7"/>
          <p:cNvSpPr txBox="true"/>
          <p:nvPr/>
        </p:nvSpPr>
        <p:spPr>
          <a:xfrm rot="0">
            <a:off x="969912" y="1804541"/>
            <a:ext cx="16348174" cy="880468"/>
          </a:xfrm>
          <a:prstGeom prst="rect">
            <a:avLst/>
          </a:prstGeom>
        </p:spPr>
        <p:txBody>
          <a:bodyPr anchor="t" rtlCol="false" tIns="0" lIns="0" bIns="0" rIns="0">
            <a:spAutoFit/>
          </a:bodyPr>
          <a:lstStyle/>
          <a:p>
            <a:pPr algn="l">
              <a:lnSpc>
                <a:spcPts val="3000"/>
              </a:lnSpc>
            </a:pPr>
            <a:r>
              <a:rPr lang="en-US" sz="1874">
                <a:solidFill>
                  <a:srgbClr val="BDA189"/>
                </a:solidFill>
                <a:latin typeface="Arimo"/>
                <a:ea typeface="Arimo"/>
                <a:cs typeface="Arimo"/>
                <a:sym typeface="Arimo"/>
              </a:rPr>
              <a:t>Branches are fundamental to Git's power, enabling developers to work on new features, bug fixes, or experiments in isolation without affecting the main codebase. This prevents instability and allows for parallel development.</a:t>
            </a:r>
          </a:p>
        </p:txBody>
      </p:sp>
      <p:grpSp>
        <p:nvGrpSpPr>
          <p:cNvPr name="Group 8" id="8"/>
          <p:cNvGrpSpPr/>
          <p:nvPr/>
        </p:nvGrpSpPr>
        <p:grpSpPr>
          <a:xfrm rot="0">
            <a:off x="969912" y="2957661"/>
            <a:ext cx="16348174" cy="1427560"/>
            <a:chOff x="0" y="0"/>
            <a:chExt cx="21797565" cy="1903413"/>
          </a:xfrm>
        </p:grpSpPr>
        <p:sp>
          <p:nvSpPr>
            <p:cNvPr name="Freeform 9" id="9"/>
            <p:cNvSpPr/>
            <p:nvPr/>
          </p:nvSpPr>
          <p:spPr>
            <a:xfrm flipH="false" flipV="false" rot="0">
              <a:off x="0" y="0"/>
              <a:ext cx="21797518" cy="1903476"/>
            </a:xfrm>
            <a:custGeom>
              <a:avLst/>
              <a:gdLst/>
              <a:ahLst/>
              <a:cxnLst/>
              <a:rect r="r" b="b" t="t" l="l"/>
              <a:pathLst>
                <a:path h="1903476" w="21797518">
                  <a:moveTo>
                    <a:pt x="0" y="48514"/>
                  </a:moveTo>
                  <a:cubicBezTo>
                    <a:pt x="0" y="21717"/>
                    <a:pt x="21717" y="0"/>
                    <a:pt x="48514" y="0"/>
                  </a:cubicBezTo>
                  <a:lnTo>
                    <a:pt x="21749004" y="0"/>
                  </a:lnTo>
                  <a:cubicBezTo>
                    <a:pt x="21775801" y="0"/>
                    <a:pt x="21797518" y="21717"/>
                    <a:pt x="21797518" y="48514"/>
                  </a:cubicBezTo>
                  <a:lnTo>
                    <a:pt x="21797518" y="1854962"/>
                  </a:lnTo>
                  <a:cubicBezTo>
                    <a:pt x="21797518" y="1881759"/>
                    <a:pt x="21775801" y="1903476"/>
                    <a:pt x="21749004" y="1903476"/>
                  </a:cubicBezTo>
                  <a:lnTo>
                    <a:pt x="48514" y="1903476"/>
                  </a:lnTo>
                  <a:cubicBezTo>
                    <a:pt x="21717" y="1903476"/>
                    <a:pt x="0" y="1881759"/>
                    <a:pt x="0" y="1854962"/>
                  </a:cubicBezTo>
                  <a:close/>
                </a:path>
              </a:pathLst>
            </a:custGeom>
            <a:solidFill>
              <a:srgbClr val="391F13"/>
            </a:solidFill>
            <a:ln w="12700">
              <a:solidFill>
                <a:srgbClr val="000000"/>
              </a:solidFill>
            </a:ln>
          </p:spPr>
        </p:sp>
      </p:grpSp>
      <p:grpSp>
        <p:nvGrpSpPr>
          <p:cNvPr name="Group 10" id="10"/>
          <p:cNvGrpSpPr>
            <a:grpSpLocks noChangeAspect="true"/>
          </p:cNvGrpSpPr>
          <p:nvPr/>
        </p:nvGrpSpPr>
        <p:grpSpPr>
          <a:xfrm rot="0">
            <a:off x="1212354" y="3324671"/>
            <a:ext cx="303014" cy="242441"/>
            <a:chOff x="0" y="0"/>
            <a:chExt cx="404018" cy="323255"/>
          </a:xfrm>
        </p:grpSpPr>
        <p:sp>
          <p:nvSpPr>
            <p:cNvPr name="Freeform 11" id="11" descr="preencoded.png"/>
            <p:cNvSpPr/>
            <p:nvPr/>
          </p:nvSpPr>
          <p:spPr>
            <a:xfrm flipH="false" flipV="false" rot="0">
              <a:off x="0" y="0"/>
              <a:ext cx="403987" cy="323215"/>
            </a:xfrm>
            <a:custGeom>
              <a:avLst/>
              <a:gdLst/>
              <a:ahLst/>
              <a:cxnLst/>
              <a:rect r="r" b="b" t="t" l="l"/>
              <a:pathLst>
                <a:path h="323215" w="403987">
                  <a:moveTo>
                    <a:pt x="0" y="0"/>
                  </a:moveTo>
                  <a:lnTo>
                    <a:pt x="403987" y="0"/>
                  </a:lnTo>
                  <a:lnTo>
                    <a:pt x="403987" y="323215"/>
                  </a:lnTo>
                  <a:lnTo>
                    <a:pt x="0" y="323215"/>
                  </a:lnTo>
                  <a:lnTo>
                    <a:pt x="0" y="0"/>
                  </a:lnTo>
                  <a:close/>
                </a:path>
              </a:pathLst>
            </a:custGeom>
            <a:blipFill>
              <a:blip r:embed="rId3"/>
              <a:stretch>
                <a:fillRect l="-1206" t="0" r="-1214" b="-12"/>
              </a:stretch>
            </a:blipFill>
          </p:spPr>
        </p:sp>
      </p:grpSp>
      <p:sp>
        <p:nvSpPr>
          <p:cNvPr name="TextBox 12" id="12"/>
          <p:cNvSpPr txBox="true"/>
          <p:nvPr/>
        </p:nvSpPr>
        <p:spPr>
          <a:xfrm rot="0">
            <a:off x="1757809" y="3155900"/>
            <a:ext cx="15317837" cy="889992"/>
          </a:xfrm>
          <a:prstGeom prst="rect">
            <a:avLst/>
          </a:prstGeom>
        </p:spPr>
        <p:txBody>
          <a:bodyPr anchor="t" rtlCol="false" tIns="0" lIns="0" bIns="0" rIns="0">
            <a:spAutoFit/>
          </a:bodyPr>
          <a:lstStyle/>
          <a:p>
            <a:pPr algn="l">
              <a:lnSpc>
                <a:spcPts val="3000"/>
              </a:lnSpc>
            </a:pPr>
            <a:r>
              <a:rPr lang="en-US" sz="1874">
                <a:solidFill>
                  <a:srgbClr val="FFFFFF"/>
                </a:solidFill>
                <a:latin typeface="Arimo"/>
                <a:ea typeface="Arimo"/>
                <a:cs typeface="Arimo"/>
                <a:sym typeface="Arimo"/>
              </a:rPr>
              <a:t>Think of branches as independent lines of development. When you start a new feature, you create a new branch to work on it. The main branch (often called main or master) remains stable.</a:t>
            </a:r>
          </a:p>
        </p:txBody>
      </p:sp>
      <p:grpSp>
        <p:nvGrpSpPr>
          <p:cNvPr name="Group 13" id="13"/>
          <p:cNvGrpSpPr/>
          <p:nvPr/>
        </p:nvGrpSpPr>
        <p:grpSpPr>
          <a:xfrm rot="0">
            <a:off x="955625" y="4643586"/>
            <a:ext cx="8081368" cy="3983831"/>
            <a:chOff x="0" y="0"/>
            <a:chExt cx="10775157" cy="5311775"/>
          </a:xfrm>
        </p:grpSpPr>
        <p:sp>
          <p:nvSpPr>
            <p:cNvPr name="Freeform 14" id="14"/>
            <p:cNvSpPr/>
            <p:nvPr/>
          </p:nvSpPr>
          <p:spPr>
            <a:xfrm flipH="false" flipV="false" rot="0">
              <a:off x="19050" y="19050"/>
              <a:ext cx="10736961" cy="5273675"/>
            </a:xfrm>
            <a:custGeom>
              <a:avLst/>
              <a:gdLst/>
              <a:ahLst/>
              <a:cxnLst/>
              <a:rect r="r" b="b" t="t" l="l"/>
              <a:pathLst>
                <a:path h="5273675" w="10736961">
                  <a:moveTo>
                    <a:pt x="0" y="182880"/>
                  </a:moveTo>
                  <a:cubicBezTo>
                    <a:pt x="0" y="81915"/>
                    <a:pt x="82169" y="0"/>
                    <a:pt x="183515" y="0"/>
                  </a:cubicBezTo>
                  <a:lnTo>
                    <a:pt x="10553446" y="0"/>
                  </a:lnTo>
                  <a:cubicBezTo>
                    <a:pt x="10654792" y="0"/>
                    <a:pt x="10736961" y="81915"/>
                    <a:pt x="10736961" y="182880"/>
                  </a:cubicBezTo>
                  <a:lnTo>
                    <a:pt x="10736961" y="5090795"/>
                  </a:lnTo>
                  <a:cubicBezTo>
                    <a:pt x="10736961" y="5191760"/>
                    <a:pt x="10654792" y="5273675"/>
                    <a:pt x="10553446" y="5273675"/>
                  </a:cubicBezTo>
                  <a:lnTo>
                    <a:pt x="183515" y="5273675"/>
                  </a:lnTo>
                  <a:cubicBezTo>
                    <a:pt x="82169" y="5273675"/>
                    <a:pt x="0" y="5191760"/>
                    <a:pt x="0" y="5090795"/>
                  </a:cubicBezTo>
                  <a:close/>
                </a:path>
              </a:pathLst>
            </a:custGeom>
            <a:solidFill>
              <a:srgbClr val="212326"/>
            </a:solidFill>
            <a:ln w="12700">
              <a:solidFill>
                <a:srgbClr val="000000"/>
              </a:solidFill>
            </a:ln>
          </p:spPr>
        </p:sp>
        <p:sp>
          <p:nvSpPr>
            <p:cNvPr name="Freeform 15" id="15"/>
            <p:cNvSpPr/>
            <p:nvPr/>
          </p:nvSpPr>
          <p:spPr>
            <a:xfrm flipH="false" flipV="false" rot="0">
              <a:off x="0" y="0"/>
              <a:ext cx="10775061" cy="5311775"/>
            </a:xfrm>
            <a:custGeom>
              <a:avLst/>
              <a:gdLst/>
              <a:ahLst/>
              <a:cxnLst/>
              <a:rect r="r" b="b" t="t" l="l"/>
              <a:pathLst>
                <a:path h="5311775" w="10775061">
                  <a:moveTo>
                    <a:pt x="0" y="201930"/>
                  </a:moveTo>
                  <a:cubicBezTo>
                    <a:pt x="0" y="90297"/>
                    <a:pt x="90805" y="0"/>
                    <a:pt x="202565" y="0"/>
                  </a:cubicBezTo>
                  <a:lnTo>
                    <a:pt x="10572496" y="0"/>
                  </a:lnTo>
                  <a:lnTo>
                    <a:pt x="10572496" y="19050"/>
                  </a:lnTo>
                  <a:lnTo>
                    <a:pt x="10572496" y="0"/>
                  </a:lnTo>
                  <a:cubicBezTo>
                    <a:pt x="10684383" y="0"/>
                    <a:pt x="10775061" y="90297"/>
                    <a:pt x="10775061" y="201930"/>
                  </a:cubicBezTo>
                  <a:lnTo>
                    <a:pt x="10756011" y="201930"/>
                  </a:lnTo>
                  <a:lnTo>
                    <a:pt x="10775061" y="201930"/>
                  </a:lnTo>
                  <a:lnTo>
                    <a:pt x="10775061" y="5109845"/>
                  </a:lnTo>
                  <a:lnTo>
                    <a:pt x="10756011" y="5109845"/>
                  </a:lnTo>
                  <a:lnTo>
                    <a:pt x="10775061" y="5109845"/>
                  </a:lnTo>
                  <a:cubicBezTo>
                    <a:pt x="10775061" y="5221478"/>
                    <a:pt x="10684256" y="5311775"/>
                    <a:pt x="10572496" y="5311775"/>
                  </a:cubicBezTo>
                  <a:lnTo>
                    <a:pt x="10572496" y="5292725"/>
                  </a:lnTo>
                  <a:lnTo>
                    <a:pt x="10572496" y="5311775"/>
                  </a:lnTo>
                  <a:lnTo>
                    <a:pt x="202565" y="5311775"/>
                  </a:lnTo>
                  <a:lnTo>
                    <a:pt x="202565" y="5292725"/>
                  </a:lnTo>
                  <a:lnTo>
                    <a:pt x="202565" y="5311775"/>
                  </a:lnTo>
                  <a:cubicBezTo>
                    <a:pt x="90805" y="5311775"/>
                    <a:pt x="0" y="5221478"/>
                    <a:pt x="0" y="5109845"/>
                  </a:cubicBezTo>
                  <a:lnTo>
                    <a:pt x="0" y="201930"/>
                  </a:lnTo>
                  <a:lnTo>
                    <a:pt x="19050" y="201930"/>
                  </a:lnTo>
                  <a:lnTo>
                    <a:pt x="0" y="201930"/>
                  </a:lnTo>
                  <a:moveTo>
                    <a:pt x="38100" y="201930"/>
                  </a:moveTo>
                  <a:lnTo>
                    <a:pt x="38100" y="5109845"/>
                  </a:lnTo>
                  <a:lnTo>
                    <a:pt x="19050" y="5109845"/>
                  </a:lnTo>
                  <a:lnTo>
                    <a:pt x="38100" y="5109845"/>
                  </a:lnTo>
                  <a:cubicBezTo>
                    <a:pt x="38100" y="5200269"/>
                    <a:pt x="111633" y="5273675"/>
                    <a:pt x="202565" y="5273675"/>
                  </a:cubicBezTo>
                  <a:lnTo>
                    <a:pt x="10572496" y="5273675"/>
                  </a:lnTo>
                  <a:cubicBezTo>
                    <a:pt x="10663427" y="5273675"/>
                    <a:pt x="10736961" y="5200269"/>
                    <a:pt x="10736961" y="5109845"/>
                  </a:cubicBezTo>
                  <a:lnTo>
                    <a:pt x="10736961" y="201930"/>
                  </a:lnTo>
                  <a:cubicBezTo>
                    <a:pt x="10736961" y="111506"/>
                    <a:pt x="10663427" y="38100"/>
                    <a:pt x="10572496" y="38100"/>
                  </a:cubicBezTo>
                  <a:lnTo>
                    <a:pt x="202565" y="38100"/>
                  </a:lnTo>
                  <a:lnTo>
                    <a:pt x="202565" y="19050"/>
                  </a:lnTo>
                  <a:lnTo>
                    <a:pt x="202565" y="38100"/>
                  </a:lnTo>
                  <a:cubicBezTo>
                    <a:pt x="111633" y="38100"/>
                    <a:pt x="38100" y="111506"/>
                    <a:pt x="38100" y="201930"/>
                  </a:cubicBezTo>
                  <a:close/>
                </a:path>
              </a:pathLst>
            </a:custGeom>
            <a:solidFill>
              <a:srgbClr val="595B5E"/>
            </a:solidFill>
            <a:ln w="12700">
              <a:solidFill>
                <a:srgbClr val="000000"/>
              </a:solidFill>
            </a:ln>
          </p:spPr>
        </p:sp>
      </p:grpSp>
      <p:grpSp>
        <p:nvGrpSpPr>
          <p:cNvPr name="Group 16" id="16"/>
          <p:cNvGrpSpPr/>
          <p:nvPr/>
        </p:nvGrpSpPr>
        <p:grpSpPr>
          <a:xfrm rot="0">
            <a:off x="941338" y="4657874"/>
            <a:ext cx="114300" cy="3955256"/>
            <a:chOff x="0" y="0"/>
            <a:chExt cx="152400" cy="5273675"/>
          </a:xfrm>
        </p:grpSpPr>
        <p:sp>
          <p:nvSpPr>
            <p:cNvPr name="Freeform 17" id="17"/>
            <p:cNvSpPr/>
            <p:nvPr/>
          </p:nvSpPr>
          <p:spPr>
            <a:xfrm flipH="false" flipV="false" rot="0">
              <a:off x="0" y="0"/>
              <a:ext cx="152400" cy="5273675"/>
            </a:xfrm>
            <a:custGeom>
              <a:avLst/>
              <a:gdLst/>
              <a:ahLst/>
              <a:cxnLst/>
              <a:rect r="r" b="b" t="t" l="l"/>
              <a:pathLst>
                <a:path h="5273675" w="152400">
                  <a:moveTo>
                    <a:pt x="0" y="48514"/>
                  </a:moveTo>
                  <a:cubicBezTo>
                    <a:pt x="0" y="21717"/>
                    <a:pt x="21717" y="0"/>
                    <a:pt x="48514" y="0"/>
                  </a:cubicBezTo>
                  <a:lnTo>
                    <a:pt x="103886" y="0"/>
                  </a:lnTo>
                  <a:cubicBezTo>
                    <a:pt x="130683" y="0"/>
                    <a:pt x="152400" y="21717"/>
                    <a:pt x="152400" y="48514"/>
                  </a:cubicBezTo>
                  <a:lnTo>
                    <a:pt x="152400" y="5225161"/>
                  </a:lnTo>
                  <a:cubicBezTo>
                    <a:pt x="152400" y="5251958"/>
                    <a:pt x="130683" y="5273675"/>
                    <a:pt x="103886" y="5273675"/>
                  </a:cubicBezTo>
                  <a:lnTo>
                    <a:pt x="48514" y="5273675"/>
                  </a:lnTo>
                  <a:cubicBezTo>
                    <a:pt x="21717" y="5273675"/>
                    <a:pt x="0" y="5251958"/>
                    <a:pt x="0" y="5225161"/>
                  </a:cubicBezTo>
                  <a:close/>
                </a:path>
              </a:pathLst>
            </a:custGeom>
            <a:solidFill>
              <a:srgbClr val="84482D"/>
            </a:solidFill>
            <a:ln w="12700">
              <a:solidFill>
                <a:srgbClr val="000000"/>
              </a:solidFill>
            </a:ln>
          </p:spPr>
        </p:sp>
      </p:grpSp>
      <p:sp>
        <p:nvSpPr>
          <p:cNvPr name="TextBox 18" id="18"/>
          <p:cNvSpPr txBox="true"/>
          <p:nvPr/>
        </p:nvSpPr>
        <p:spPr>
          <a:xfrm rot="0">
            <a:off x="1326654" y="4919365"/>
            <a:ext cx="3030885" cy="388441"/>
          </a:xfrm>
          <a:prstGeom prst="rect">
            <a:avLst/>
          </a:prstGeom>
        </p:spPr>
        <p:txBody>
          <a:bodyPr anchor="t" rtlCol="false" tIns="0" lIns="0" bIns="0" rIns="0">
            <a:spAutoFit/>
          </a:bodyPr>
          <a:lstStyle/>
          <a:p>
            <a:pPr algn="l">
              <a:lnSpc>
                <a:spcPts val="2937"/>
              </a:lnSpc>
            </a:pPr>
            <a:r>
              <a:rPr lang="en-US" sz="2375">
                <a:solidFill>
                  <a:srgbClr val="BDA189"/>
                </a:solidFill>
                <a:latin typeface="Prata"/>
                <a:ea typeface="Prata"/>
                <a:cs typeface="Prata"/>
                <a:sym typeface="Prata"/>
              </a:rPr>
              <a:t>git branch </a:t>
            </a:r>
            <a:r>
              <a:rPr lang="en-US" sz="2375">
                <a:solidFill>
                  <a:srgbClr val="BE6841"/>
                </a:solidFill>
                <a:latin typeface="Prata"/>
                <a:ea typeface="Prata"/>
                <a:cs typeface="Prata"/>
                <a:sym typeface="Prata"/>
              </a:rPr>
              <a:t>&lt;name&gt;</a:t>
            </a:r>
          </a:p>
        </p:txBody>
      </p:sp>
      <p:sp>
        <p:nvSpPr>
          <p:cNvPr name="TextBox 19" id="19"/>
          <p:cNvSpPr txBox="true"/>
          <p:nvPr/>
        </p:nvSpPr>
        <p:spPr>
          <a:xfrm rot="0">
            <a:off x="1326654" y="5348436"/>
            <a:ext cx="7425035" cy="2063055"/>
          </a:xfrm>
          <a:prstGeom prst="rect">
            <a:avLst/>
          </a:prstGeom>
        </p:spPr>
        <p:txBody>
          <a:bodyPr anchor="t" rtlCol="false" tIns="0" lIns="0" bIns="0" rIns="0">
            <a:spAutoFit/>
          </a:bodyPr>
          <a:lstStyle/>
          <a:p>
            <a:pPr algn="l">
              <a:lnSpc>
                <a:spcPts val="3000"/>
              </a:lnSpc>
            </a:pPr>
            <a:r>
              <a:rPr lang="en-US" sz="1874">
                <a:solidFill>
                  <a:srgbClr val="BDA189"/>
                </a:solidFill>
                <a:latin typeface="Arimo"/>
                <a:ea typeface="Arimo"/>
                <a:cs typeface="Arimo"/>
                <a:sym typeface="Arimo"/>
              </a:rPr>
              <a:t>This command creates a new branch pointer to the current commit. It doesn't switch your working directory; it merely registers a new named line of development. For example, git branch feature-x creates a new branch called feature-x from your current position.</a:t>
            </a:r>
          </a:p>
        </p:txBody>
      </p:sp>
      <p:grpSp>
        <p:nvGrpSpPr>
          <p:cNvPr name="Group 20" id="20"/>
          <p:cNvGrpSpPr/>
          <p:nvPr/>
        </p:nvGrpSpPr>
        <p:grpSpPr>
          <a:xfrm rot="0">
            <a:off x="9250859" y="4643586"/>
            <a:ext cx="8081516" cy="3983831"/>
            <a:chOff x="0" y="0"/>
            <a:chExt cx="10775355" cy="5311775"/>
          </a:xfrm>
        </p:grpSpPr>
        <p:sp>
          <p:nvSpPr>
            <p:cNvPr name="Freeform 21" id="21"/>
            <p:cNvSpPr/>
            <p:nvPr/>
          </p:nvSpPr>
          <p:spPr>
            <a:xfrm flipH="false" flipV="false" rot="0">
              <a:off x="19050" y="19050"/>
              <a:ext cx="10737215" cy="5273675"/>
            </a:xfrm>
            <a:custGeom>
              <a:avLst/>
              <a:gdLst/>
              <a:ahLst/>
              <a:cxnLst/>
              <a:rect r="r" b="b" t="t" l="l"/>
              <a:pathLst>
                <a:path h="5273675" w="10737215">
                  <a:moveTo>
                    <a:pt x="0" y="182880"/>
                  </a:moveTo>
                  <a:cubicBezTo>
                    <a:pt x="0" y="81915"/>
                    <a:pt x="82169" y="0"/>
                    <a:pt x="183515" y="0"/>
                  </a:cubicBezTo>
                  <a:lnTo>
                    <a:pt x="10553700" y="0"/>
                  </a:lnTo>
                  <a:cubicBezTo>
                    <a:pt x="10655046" y="0"/>
                    <a:pt x="10737215" y="81915"/>
                    <a:pt x="10737215" y="182880"/>
                  </a:cubicBezTo>
                  <a:lnTo>
                    <a:pt x="10737215" y="5090795"/>
                  </a:lnTo>
                  <a:cubicBezTo>
                    <a:pt x="10737215" y="5191760"/>
                    <a:pt x="10655046" y="5273675"/>
                    <a:pt x="10553700" y="5273675"/>
                  </a:cubicBezTo>
                  <a:lnTo>
                    <a:pt x="183515" y="5273675"/>
                  </a:lnTo>
                  <a:cubicBezTo>
                    <a:pt x="82169" y="5273675"/>
                    <a:pt x="0" y="5191760"/>
                    <a:pt x="0" y="5090795"/>
                  </a:cubicBezTo>
                  <a:close/>
                </a:path>
              </a:pathLst>
            </a:custGeom>
            <a:solidFill>
              <a:srgbClr val="212326"/>
            </a:solidFill>
            <a:ln w="12700">
              <a:solidFill>
                <a:srgbClr val="000000"/>
              </a:solidFill>
            </a:ln>
          </p:spPr>
        </p:sp>
        <p:sp>
          <p:nvSpPr>
            <p:cNvPr name="Freeform 22" id="22"/>
            <p:cNvSpPr/>
            <p:nvPr/>
          </p:nvSpPr>
          <p:spPr>
            <a:xfrm flipH="false" flipV="false" rot="0">
              <a:off x="0" y="0"/>
              <a:ext cx="10775315" cy="5311775"/>
            </a:xfrm>
            <a:custGeom>
              <a:avLst/>
              <a:gdLst/>
              <a:ahLst/>
              <a:cxnLst/>
              <a:rect r="r" b="b" t="t" l="l"/>
              <a:pathLst>
                <a:path h="5311775" w="10775315">
                  <a:moveTo>
                    <a:pt x="0" y="201930"/>
                  </a:moveTo>
                  <a:cubicBezTo>
                    <a:pt x="0" y="90297"/>
                    <a:pt x="90805" y="0"/>
                    <a:pt x="202565" y="0"/>
                  </a:cubicBezTo>
                  <a:lnTo>
                    <a:pt x="10572750" y="0"/>
                  </a:lnTo>
                  <a:lnTo>
                    <a:pt x="10572750" y="19050"/>
                  </a:lnTo>
                  <a:lnTo>
                    <a:pt x="10572750" y="0"/>
                  </a:lnTo>
                  <a:cubicBezTo>
                    <a:pt x="10684637" y="0"/>
                    <a:pt x="10775315" y="90297"/>
                    <a:pt x="10775315" y="201930"/>
                  </a:cubicBezTo>
                  <a:lnTo>
                    <a:pt x="10756265" y="201930"/>
                  </a:lnTo>
                  <a:lnTo>
                    <a:pt x="10775315" y="201930"/>
                  </a:lnTo>
                  <a:lnTo>
                    <a:pt x="10775315" y="5109845"/>
                  </a:lnTo>
                  <a:lnTo>
                    <a:pt x="10756265" y="5109845"/>
                  </a:lnTo>
                  <a:lnTo>
                    <a:pt x="10775315" y="5109845"/>
                  </a:lnTo>
                  <a:cubicBezTo>
                    <a:pt x="10775315" y="5221478"/>
                    <a:pt x="10684510" y="5311775"/>
                    <a:pt x="10572750" y="5311775"/>
                  </a:cubicBezTo>
                  <a:lnTo>
                    <a:pt x="10572750" y="5292725"/>
                  </a:lnTo>
                  <a:lnTo>
                    <a:pt x="10572750" y="5311775"/>
                  </a:lnTo>
                  <a:lnTo>
                    <a:pt x="202565" y="5311775"/>
                  </a:lnTo>
                  <a:lnTo>
                    <a:pt x="202565" y="5292725"/>
                  </a:lnTo>
                  <a:lnTo>
                    <a:pt x="202565" y="5311775"/>
                  </a:lnTo>
                  <a:cubicBezTo>
                    <a:pt x="90805" y="5311775"/>
                    <a:pt x="0" y="5221478"/>
                    <a:pt x="0" y="5109845"/>
                  </a:cubicBezTo>
                  <a:lnTo>
                    <a:pt x="0" y="201930"/>
                  </a:lnTo>
                  <a:lnTo>
                    <a:pt x="19050" y="201930"/>
                  </a:lnTo>
                  <a:lnTo>
                    <a:pt x="0" y="201930"/>
                  </a:lnTo>
                  <a:moveTo>
                    <a:pt x="38100" y="201930"/>
                  </a:moveTo>
                  <a:lnTo>
                    <a:pt x="38100" y="5109845"/>
                  </a:lnTo>
                  <a:lnTo>
                    <a:pt x="19050" y="5109845"/>
                  </a:lnTo>
                  <a:lnTo>
                    <a:pt x="38100" y="5109845"/>
                  </a:lnTo>
                  <a:cubicBezTo>
                    <a:pt x="38100" y="5200269"/>
                    <a:pt x="111633" y="5273675"/>
                    <a:pt x="202565" y="5273675"/>
                  </a:cubicBezTo>
                  <a:lnTo>
                    <a:pt x="10572750" y="5273675"/>
                  </a:lnTo>
                  <a:cubicBezTo>
                    <a:pt x="10663682" y="5273675"/>
                    <a:pt x="10737215" y="5200269"/>
                    <a:pt x="10737215" y="5109845"/>
                  </a:cubicBezTo>
                  <a:lnTo>
                    <a:pt x="10737215" y="201930"/>
                  </a:lnTo>
                  <a:cubicBezTo>
                    <a:pt x="10737215" y="111506"/>
                    <a:pt x="10663682" y="38100"/>
                    <a:pt x="10572750" y="38100"/>
                  </a:cubicBezTo>
                  <a:lnTo>
                    <a:pt x="202565" y="38100"/>
                  </a:lnTo>
                  <a:lnTo>
                    <a:pt x="202565" y="19050"/>
                  </a:lnTo>
                  <a:lnTo>
                    <a:pt x="202565" y="38100"/>
                  </a:lnTo>
                  <a:cubicBezTo>
                    <a:pt x="111633" y="38100"/>
                    <a:pt x="38100" y="111506"/>
                    <a:pt x="38100" y="201930"/>
                  </a:cubicBezTo>
                  <a:close/>
                </a:path>
              </a:pathLst>
            </a:custGeom>
            <a:solidFill>
              <a:srgbClr val="595B5E"/>
            </a:solidFill>
            <a:ln w="12700">
              <a:solidFill>
                <a:srgbClr val="000000"/>
              </a:solidFill>
            </a:ln>
          </p:spPr>
        </p:sp>
      </p:grpSp>
      <p:grpSp>
        <p:nvGrpSpPr>
          <p:cNvPr name="Group 23" id="23"/>
          <p:cNvGrpSpPr/>
          <p:nvPr/>
        </p:nvGrpSpPr>
        <p:grpSpPr>
          <a:xfrm rot="0">
            <a:off x="9236571" y="4657874"/>
            <a:ext cx="114300" cy="3955256"/>
            <a:chOff x="0" y="0"/>
            <a:chExt cx="152400" cy="5273675"/>
          </a:xfrm>
        </p:grpSpPr>
        <p:sp>
          <p:nvSpPr>
            <p:cNvPr name="Freeform 24" id="24"/>
            <p:cNvSpPr/>
            <p:nvPr/>
          </p:nvSpPr>
          <p:spPr>
            <a:xfrm flipH="false" flipV="false" rot="0">
              <a:off x="0" y="0"/>
              <a:ext cx="152400" cy="5273675"/>
            </a:xfrm>
            <a:custGeom>
              <a:avLst/>
              <a:gdLst/>
              <a:ahLst/>
              <a:cxnLst/>
              <a:rect r="r" b="b" t="t" l="l"/>
              <a:pathLst>
                <a:path h="5273675" w="152400">
                  <a:moveTo>
                    <a:pt x="0" y="48514"/>
                  </a:moveTo>
                  <a:cubicBezTo>
                    <a:pt x="0" y="21717"/>
                    <a:pt x="21717" y="0"/>
                    <a:pt x="48514" y="0"/>
                  </a:cubicBezTo>
                  <a:lnTo>
                    <a:pt x="103886" y="0"/>
                  </a:lnTo>
                  <a:cubicBezTo>
                    <a:pt x="130683" y="0"/>
                    <a:pt x="152400" y="21717"/>
                    <a:pt x="152400" y="48514"/>
                  </a:cubicBezTo>
                  <a:lnTo>
                    <a:pt x="152400" y="5225161"/>
                  </a:lnTo>
                  <a:cubicBezTo>
                    <a:pt x="152400" y="5251958"/>
                    <a:pt x="130683" y="5273675"/>
                    <a:pt x="103886" y="5273675"/>
                  </a:cubicBezTo>
                  <a:lnTo>
                    <a:pt x="48514" y="5273675"/>
                  </a:lnTo>
                  <a:cubicBezTo>
                    <a:pt x="21717" y="5273675"/>
                    <a:pt x="0" y="5251958"/>
                    <a:pt x="0" y="5225161"/>
                  </a:cubicBezTo>
                  <a:close/>
                </a:path>
              </a:pathLst>
            </a:custGeom>
            <a:solidFill>
              <a:srgbClr val="84482D"/>
            </a:solidFill>
            <a:ln w="12700">
              <a:solidFill>
                <a:srgbClr val="000000"/>
              </a:solidFill>
            </a:ln>
          </p:spPr>
        </p:sp>
      </p:grpSp>
      <p:sp>
        <p:nvSpPr>
          <p:cNvPr name="TextBox 25" id="25"/>
          <p:cNvSpPr txBox="true"/>
          <p:nvPr/>
        </p:nvSpPr>
        <p:spPr>
          <a:xfrm rot="0">
            <a:off x="9621888" y="4919365"/>
            <a:ext cx="3179861" cy="388441"/>
          </a:xfrm>
          <a:prstGeom prst="rect">
            <a:avLst/>
          </a:prstGeom>
        </p:spPr>
        <p:txBody>
          <a:bodyPr anchor="t" rtlCol="false" tIns="0" lIns="0" bIns="0" rIns="0">
            <a:spAutoFit/>
          </a:bodyPr>
          <a:lstStyle/>
          <a:p>
            <a:pPr algn="l">
              <a:lnSpc>
                <a:spcPts val="2937"/>
              </a:lnSpc>
            </a:pPr>
            <a:r>
              <a:rPr lang="en-US" sz="2375">
                <a:solidFill>
                  <a:srgbClr val="BDA189"/>
                </a:solidFill>
                <a:latin typeface="Prata"/>
                <a:ea typeface="Prata"/>
                <a:cs typeface="Prata"/>
                <a:sym typeface="Prata"/>
              </a:rPr>
              <a:t>git checkout </a:t>
            </a:r>
            <a:r>
              <a:rPr lang="en-US" sz="2375">
                <a:solidFill>
                  <a:srgbClr val="BE6841"/>
                </a:solidFill>
                <a:latin typeface="Prata"/>
                <a:ea typeface="Prata"/>
                <a:cs typeface="Prata"/>
                <a:sym typeface="Prata"/>
              </a:rPr>
              <a:t>&lt;branch&gt;</a:t>
            </a:r>
          </a:p>
        </p:txBody>
      </p:sp>
      <p:sp>
        <p:nvSpPr>
          <p:cNvPr name="TextBox 26" id="26"/>
          <p:cNvSpPr txBox="true"/>
          <p:nvPr/>
        </p:nvSpPr>
        <p:spPr>
          <a:xfrm rot="0">
            <a:off x="9621888" y="5348436"/>
            <a:ext cx="7425184" cy="1665685"/>
          </a:xfrm>
          <a:prstGeom prst="rect">
            <a:avLst/>
          </a:prstGeom>
        </p:spPr>
        <p:txBody>
          <a:bodyPr anchor="t" rtlCol="false" tIns="0" lIns="0" bIns="0" rIns="0">
            <a:spAutoFit/>
          </a:bodyPr>
          <a:lstStyle/>
          <a:p>
            <a:pPr algn="l">
              <a:lnSpc>
                <a:spcPts val="3000"/>
              </a:lnSpc>
            </a:pPr>
            <a:r>
              <a:rPr lang="en-US" sz="1874">
                <a:solidFill>
                  <a:srgbClr val="BDA189"/>
                </a:solidFill>
                <a:latin typeface="Arimo"/>
                <a:ea typeface="Arimo"/>
                <a:cs typeface="Arimo"/>
                <a:sym typeface="Arimo"/>
              </a:rPr>
              <a:t>To actually move to a different branch and start working on it, you use git checkout &lt;branch&gt;. This command updates your working directory to reflect the files and history of the specified branch. All subsequent commits will then be added to this new branch.</a:t>
            </a:r>
          </a:p>
        </p:txBody>
      </p:sp>
      <p:sp>
        <p:nvSpPr>
          <p:cNvPr name="TextBox 27" id="27"/>
          <p:cNvSpPr txBox="true"/>
          <p:nvPr/>
        </p:nvSpPr>
        <p:spPr>
          <a:xfrm rot="0">
            <a:off x="9621888" y="7054751"/>
            <a:ext cx="7425184" cy="1287364"/>
          </a:xfrm>
          <a:prstGeom prst="rect">
            <a:avLst/>
          </a:prstGeom>
        </p:spPr>
        <p:txBody>
          <a:bodyPr anchor="t" rtlCol="false" tIns="0" lIns="0" bIns="0" rIns="0">
            <a:spAutoFit/>
          </a:bodyPr>
          <a:lstStyle/>
          <a:p>
            <a:pPr algn="l">
              <a:lnSpc>
                <a:spcPts val="3000"/>
              </a:lnSpc>
            </a:pPr>
            <a:r>
              <a:rPr lang="en-US" sz="1874">
                <a:solidFill>
                  <a:srgbClr val="BDA189"/>
                </a:solidFill>
                <a:latin typeface="Arimo"/>
                <a:ea typeface="Arimo"/>
                <a:cs typeface="Arimo"/>
                <a:sym typeface="Arimo"/>
              </a:rPr>
              <a:t>As of Git 2.23, git switch &lt;branch&gt; has been introduced as a more semantic and safer alternative for switching branches, separating concerns from git checkout's other functions.</a:t>
            </a:r>
          </a:p>
        </p:txBody>
      </p:sp>
      <p:sp>
        <p:nvSpPr>
          <p:cNvPr name="TextBox 28" id="28"/>
          <p:cNvSpPr txBox="true"/>
          <p:nvPr/>
        </p:nvSpPr>
        <p:spPr>
          <a:xfrm rot="0">
            <a:off x="969912" y="8781009"/>
            <a:ext cx="16348174" cy="880467"/>
          </a:xfrm>
          <a:prstGeom prst="rect">
            <a:avLst/>
          </a:prstGeom>
        </p:spPr>
        <p:txBody>
          <a:bodyPr anchor="t" rtlCol="false" tIns="0" lIns="0" bIns="0" rIns="0">
            <a:spAutoFit/>
          </a:bodyPr>
          <a:lstStyle/>
          <a:p>
            <a:pPr algn="l">
              <a:lnSpc>
                <a:spcPts val="3000"/>
              </a:lnSpc>
            </a:pPr>
            <a:r>
              <a:rPr lang="en-US" sz="1874">
                <a:solidFill>
                  <a:srgbClr val="BDA189"/>
                </a:solidFill>
                <a:latin typeface="Arimo"/>
                <a:ea typeface="Arimo"/>
                <a:cs typeface="Arimo"/>
                <a:sym typeface="Arimo"/>
              </a:rPr>
              <a:t>Understanding branching is crucial for effective team collaboration and managing complex projects. It's the cornerstone of modern development workflows, enabling concurrent work without constant interference.</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3171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12326"/>
            </a:solidFill>
            <a:ln w="12700">
              <a:solidFill>
                <a:srgbClr val="000000"/>
              </a:solidFill>
            </a:ln>
          </p:spPr>
        </p:sp>
      </p:grpSp>
      <p:sp>
        <p:nvSpPr>
          <p:cNvPr name="TextBox 6" id="6"/>
          <p:cNvSpPr txBox="true"/>
          <p:nvPr/>
        </p:nvSpPr>
        <p:spPr>
          <a:xfrm rot="0">
            <a:off x="992238" y="1087190"/>
            <a:ext cx="8547795" cy="794148"/>
          </a:xfrm>
          <a:prstGeom prst="rect">
            <a:avLst/>
          </a:prstGeom>
        </p:spPr>
        <p:txBody>
          <a:bodyPr anchor="t" rtlCol="false" tIns="0" lIns="0" bIns="0" rIns="0">
            <a:spAutoFit/>
          </a:bodyPr>
          <a:lstStyle/>
          <a:p>
            <a:pPr algn="l">
              <a:lnSpc>
                <a:spcPts val="6062"/>
              </a:lnSpc>
            </a:pPr>
            <a:r>
              <a:rPr lang="en-US" sz="4875">
                <a:solidFill>
                  <a:srgbClr val="F2D4BA"/>
                </a:solidFill>
                <a:latin typeface="Prata"/>
                <a:ea typeface="Prata"/>
                <a:cs typeface="Prata"/>
                <a:sym typeface="Prata"/>
              </a:rPr>
              <a:t>Merging Branches: git merge</a:t>
            </a:r>
          </a:p>
        </p:txBody>
      </p:sp>
      <p:sp>
        <p:nvSpPr>
          <p:cNvPr name="TextBox 7" id="7"/>
          <p:cNvSpPr txBox="true"/>
          <p:nvPr/>
        </p:nvSpPr>
        <p:spPr>
          <a:xfrm rot="0">
            <a:off x="992238" y="2282130"/>
            <a:ext cx="16303526" cy="889099"/>
          </a:xfrm>
          <a:prstGeom prst="rect">
            <a:avLst/>
          </a:prstGeom>
        </p:spPr>
        <p:txBody>
          <a:bodyPr anchor="t" rtlCol="false" tIns="0" lIns="0" bIns="0" rIns="0">
            <a:spAutoFit/>
          </a:bodyPr>
          <a:lstStyle/>
          <a:p>
            <a:pPr algn="l">
              <a:lnSpc>
                <a:spcPts val="3125"/>
              </a:lnSpc>
            </a:pPr>
            <a:r>
              <a:rPr lang="en-US" sz="1937">
                <a:solidFill>
                  <a:srgbClr val="BDA189"/>
                </a:solidFill>
                <a:latin typeface="Arimo"/>
                <a:ea typeface="Arimo"/>
                <a:cs typeface="Arimo"/>
                <a:sym typeface="Arimo"/>
              </a:rPr>
              <a:t>Once development on a separate branch (e.g., a feature or bug fix branch) is complete and tested, its changes need to be integrated back into a primary branch (commonly main). This integration process is handled by git merge.</a:t>
            </a:r>
          </a:p>
        </p:txBody>
      </p:sp>
      <p:sp>
        <p:nvSpPr>
          <p:cNvPr name="TextBox 8" id="8"/>
          <p:cNvSpPr txBox="true"/>
          <p:nvPr/>
        </p:nvSpPr>
        <p:spPr>
          <a:xfrm rot="0">
            <a:off x="992238" y="3355032"/>
            <a:ext cx="16303526" cy="492175"/>
          </a:xfrm>
          <a:prstGeom prst="rect">
            <a:avLst/>
          </a:prstGeom>
        </p:spPr>
        <p:txBody>
          <a:bodyPr anchor="t" rtlCol="false" tIns="0" lIns="0" bIns="0" rIns="0">
            <a:spAutoFit/>
          </a:bodyPr>
          <a:lstStyle/>
          <a:p>
            <a:pPr algn="l">
              <a:lnSpc>
                <a:spcPts val="3125"/>
              </a:lnSpc>
            </a:pPr>
            <a:r>
              <a:rPr lang="en-US" sz="1937">
                <a:solidFill>
                  <a:srgbClr val="BDA189"/>
                </a:solidFill>
                <a:latin typeface="Arimo"/>
                <a:ea typeface="Arimo"/>
                <a:cs typeface="Arimo"/>
                <a:sym typeface="Arimo"/>
              </a:rPr>
              <a:t>The typical workflow for merging a feature branch into main involves these steps:</a:t>
            </a:r>
          </a:p>
        </p:txBody>
      </p:sp>
      <p:sp>
        <p:nvSpPr>
          <p:cNvPr name="TextBox 9" id="9"/>
          <p:cNvSpPr txBox="true"/>
          <p:nvPr/>
        </p:nvSpPr>
        <p:spPr>
          <a:xfrm rot="0">
            <a:off x="992238" y="4031010"/>
            <a:ext cx="16303526" cy="492175"/>
          </a:xfrm>
          <a:prstGeom prst="rect">
            <a:avLst/>
          </a:prstGeom>
        </p:spPr>
        <p:txBody>
          <a:bodyPr anchor="t" rtlCol="false" tIns="0" lIns="0" bIns="0" rIns="0">
            <a:spAutoFit/>
          </a:bodyPr>
          <a:lstStyle/>
          <a:p>
            <a:pPr algn="l" marL="292199" indent="-146100" lvl="1">
              <a:lnSpc>
                <a:spcPts val="3125"/>
              </a:lnSpc>
              <a:buAutoNum type="arabicPeriod" startAt="1"/>
            </a:pPr>
            <a:r>
              <a:rPr lang="en-US" b="true" sz="1937">
                <a:solidFill>
                  <a:srgbClr val="BDA189"/>
                </a:solidFill>
                <a:latin typeface="Arimo Bold"/>
                <a:ea typeface="Arimo Bold"/>
                <a:cs typeface="Arimo Bold"/>
                <a:sym typeface="Arimo Bold"/>
              </a:rPr>
              <a:t>Switch to the target branch:</a:t>
            </a:r>
            <a:r>
              <a:rPr lang="en-US" sz="1937">
                <a:solidFill>
                  <a:srgbClr val="BDA189"/>
                </a:solidFill>
                <a:latin typeface="Arimo"/>
                <a:ea typeface="Arimo"/>
                <a:cs typeface="Arimo"/>
                <a:sym typeface="Arimo"/>
              </a:rPr>
              <a:t> git checkout main (or the branch you want to merge into).</a:t>
            </a:r>
          </a:p>
        </p:txBody>
      </p:sp>
      <p:sp>
        <p:nvSpPr>
          <p:cNvPr name="TextBox 10" id="10"/>
          <p:cNvSpPr txBox="true"/>
          <p:nvPr/>
        </p:nvSpPr>
        <p:spPr>
          <a:xfrm rot="0">
            <a:off x="992238" y="4486126"/>
            <a:ext cx="16303526" cy="520750"/>
          </a:xfrm>
          <a:prstGeom prst="rect">
            <a:avLst/>
          </a:prstGeom>
        </p:spPr>
        <p:txBody>
          <a:bodyPr anchor="t" rtlCol="false" tIns="0" lIns="0" bIns="0" rIns="0">
            <a:spAutoFit/>
          </a:bodyPr>
          <a:lstStyle/>
          <a:p>
            <a:pPr algn="l" marL="292199" indent="-146100" lvl="1">
              <a:lnSpc>
                <a:spcPts val="3125"/>
              </a:lnSpc>
              <a:buAutoNum type="arabicPeriod" startAt="1"/>
            </a:pPr>
            <a:r>
              <a:rPr lang="en-US" b="true" sz="1937">
                <a:solidFill>
                  <a:srgbClr val="BDA189"/>
                </a:solidFill>
                <a:latin typeface="Consolas Bold"/>
                <a:ea typeface="Consolas Bold"/>
                <a:cs typeface="Consolas Bold"/>
                <a:sym typeface="Consolas Bold"/>
              </a:rPr>
              <a:t>Perform the merge:</a:t>
            </a:r>
            <a:r>
              <a:rPr lang="en-US" sz="1937">
                <a:solidFill>
                  <a:srgbClr val="BDA189"/>
                </a:solidFill>
                <a:latin typeface="Consolas"/>
                <a:ea typeface="Consolas"/>
                <a:cs typeface="Consolas"/>
                <a:sym typeface="Consolas"/>
              </a:rPr>
              <a:t> git merge feature-branch.</a:t>
            </a:r>
          </a:p>
        </p:txBody>
      </p:sp>
      <p:sp>
        <p:nvSpPr>
          <p:cNvPr name="TextBox 11" id="11"/>
          <p:cNvSpPr txBox="true"/>
          <p:nvPr/>
        </p:nvSpPr>
        <p:spPr>
          <a:xfrm rot="0">
            <a:off x="992238" y="5190679"/>
            <a:ext cx="16303526" cy="889099"/>
          </a:xfrm>
          <a:prstGeom prst="rect">
            <a:avLst/>
          </a:prstGeom>
        </p:spPr>
        <p:txBody>
          <a:bodyPr anchor="t" rtlCol="false" tIns="0" lIns="0" bIns="0" rIns="0">
            <a:spAutoFit/>
          </a:bodyPr>
          <a:lstStyle/>
          <a:p>
            <a:pPr algn="l">
              <a:lnSpc>
                <a:spcPts val="3125"/>
              </a:lnSpc>
            </a:pPr>
            <a:r>
              <a:rPr lang="en-US" sz="1937">
                <a:solidFill>
                  <a:srgbClr val="BDA189"/>
                </a:solidFill>
                <a:latin typeface="Arimo"/>
                <a:ea typeface="Arimo"/>
                <a:cs typeface="Arimo"/>
                <a:sym typeface="Arimo"/>
              </a:rPr>
              <a:t>Git attempts to combine the histories of the two branches. If there are no conflicting changes (i.e., different modifications to the same lines of code in both branches), Git performs a fast-forward merge or a 3-way merge automatically, creating a new merge commit if necessary.</a:t>
            </a:r>
          </a:p>
        </p:txBody>
      </p:sp>
      <p:sp>
        <p:nvSpPr>
          <p:cNvPr name="TextBox 12" id="12"/>
          <p:cNvSpPr txBox="true"/>
          <p:nvPr/>
        </p:nvSpPr>
        <p:spPr>
          <a:xfrm rot="0">
            <a:off x="1364308" y="6542634"/>
            <a:ext cx="15931455" cy="1286024"/>
          </a:xfrm>
          <a:prstGeom prst="rect">
            <a:avLst/>
          </a:prstGeom>
        </p:spPr>
        <p:txBody>
          <a:bodyPr anchor="t" rtlCol="false" tIns="0" lIns="0" bIns="0" rIns="0">
            <a:spAutoFit/>
          </a:bodyPr>
          <a:lstStyle/>
          <a:p>
            <a:pPr algn="l">
              <a:lnSpc>
                <a:spcPts val="3125"/>
              </a:lnSpc>
            </a:pPr>
            <a:r>
              <a:rPr lang="en-US" sz="1937">
                <a:solidFill>
                  <a:srgbClr val="BE6841"/>
                </a:solidFill>
                <a:latin typeface="Arimo"/>
                <a:ea typeface="Arimo"/>
                <a:cs typeface="Arimo"/>
                <a:sym typeface="Arimo"/>
              </a:rPr>
              <a:t>Conflict Resolution:</a:t>
            </a:r>
            <a:r>
              <a:rPr lang="en-US" sz="1937">
                <a:solidFill>
                  <a:srgbClr val="BDA189"/>
                </a:solidFill>
                <a:latin typeface="Arimo"/>
                <a:ea typeface="Arimo"/>
                <a:cs typeface="Arimo"/>
                <a:sym typeface="Arimo"/>
              </a:rPr>
              <a:t> If the same lines of code have been changed differently in both branches, Git cannot automatically merge and will indicate a </a:t>
            </a:r>
            <a:r>
              <a:rPr lang="en-US" sz="1937" b="true">
                <a:solidFill>
                  <a:srgbClr val="BDA189"/>
                </a:solidFill>
                <a:latin typeface="Arimo Bold"/>
                <a:ea typeface="Arimo Bold"/>
                <a:cs typeface="Arimo Bold"/>
                <a:sym typeface="Arimo Bold"/>
              </a:rPr>
              <a:t>merge conflict</a:t>
            </a:r>
            <a:r>
              <a:rPr lang="en-US" sz="1937">
                <a:solidFill>
                  <a:srgbClr val="BDA189"/>
                </a:solidFill>
                <a:latin typeface="Arimo"/>
                <a:ea typeface="Arimo"/>
                <a:cs typeface="Arimo"/>
                <a:sym typeface="Arimo"/>
              </a:rPr>
              <a:t>. You must then manually resolve these conflicts by editing the affected files, choosing which changes to keep, and then committing the resolution.</a:t>
            </a:r>
          </a:p>
        </p:txBody>
      </p:sp>
      <p:grpSp>
        <p:nvGrpSpPr>
          <p:cNvPr name="Group 13" id="13"/>
          <p:cNvGrpSpPr/>
          <p:nvPr/>
        </p:nvGrpSpPr>
        <p:grpSpPr>
          <a:xfrm rot="0">
            <a:off x="992238" y="6358830"/>
            <a:ext cx="28575" cy="1748879"/>
            <a:chOff x="0" y="0"/>
            <a:chExt cx="38100" cy="2331838"/>
          </a:xfrm>
        </p:grpSpPr>
        <p:sp>
          <p:nvSpPr>
            <p:cNvPr name="Freeform 14" id="14"/>
            <p:cNvSpPr/>
            <p:nvPr/>
          </p:nvSpPr>
          <p:spPr>
            <a:xfrm flipH="false" flipV="false" rot="0">
              <a:off x="0" y="0"/>
              <a:ext cx="38100" cy="2331847"/>
            </a:xfrm>
            <a:custGeom>
              <a:avLst/>
              <a:gdLst/>
              <a:ahLst/>
              <a:cxnLst/>
              <a:rect r="r" b="b" t="t" l="l"/>
              <a:pathLst>
                <a:path h="2331847" w="38100">
                  <a:moveTo>
                    <a:pt x="0" y="0"/>
                  </a:moveTo>
                  <a:lnTo>
                    <a:pt x="38100" y="0"/>
                  </a:lnTo>
                  <a:lnTo>
                    <a:pt x="38100" y="2331847"/>
                  </a:lnTo>
                  <a:lnTo>
                    <a:pt x="0" y="2331847"/>
                  </a:lnTo>
                  <a:close/>
                </a:path>
              </a:pathLst>
            </a:custGeom>
            <a:solidFill>
              <a:srgbClr val="84482D"/>
            </a:solidFill>
            <a:ln w="12700">
              <a:solidFill>
                <a:srgbClr val="000000"/>
              </a:solidFill>
            </a:ln>
          </p:spPr>
        </p:sp>
      </p:grpSp>
      <p:sp>
        <p:nvSpPr>
          <p:cNvPr name="TextBox 15" id="15"/>
          <p:cNvSpPr txBox="true"/>
          <p:nvPr/>
        </p:nvSpPr>
        <p:spPr>
          <a:xfrm rot="0">
            <a:off x="992238" y="8291512"/>
            <a:ext cx="16303526" cy="889099"/>
          </a:xfrm>
          <a:prstGeom prst="rect">
            <a:avLst/>
          </a:prstGeom>
        </p:spPr>
        <p:txBody>
          <a:bodyPr anchor="t" rtlCol="false" tIns="0" lIns="0" bIns="0" rIns="0">
            <a:spAutoFit/>
          </a:bodyPr>
          <a:lstStyle/>
          <a:p>
            <a:pPr algn="l">
              <a:lnSpc>
                <a:spcPts val="3125"/>
              </a:lnSpc>
            </a:pPr>
            <a:r>
              <a:rPr lang="en-US" sz="1937">
                <a:solidFill>
                  <a:srgbClr val="BDA189"/>
                </a:solidFill>
                <a:latin typeface="Arimo"/>
                <a:ea typeface="Arimo"/>
                <a:cs typeface="Arimo"/>
                <a:sym typeface="Arimo"/>
              </a:rPr>
              <a:t>Merging is a critical operation for consolidating work and moving features from development into production. It's a skill that developers frequently use to integrate their contributions into the collective codebase.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3171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12326"/>
            </a:solidFill>
            <a:ln w="12700">
              <a:solidFill>
                <a:srgbClr val="000000"/>
              </a:solidFill>
            </a:ln>
          </p:spPr>
        </p:sp>
      </p:grpSp>
      <p:sp>
        <p:nvSpPr>
          <p:cNvPr name="TextBox 6" id="6"/>
          <p:cNvSpPr txBox="true"/>
          <p:nvPr/>
        </p:nvSpPr>
        <p:spPr>
          <a:xfrm rot="0">
            <a:off x="912019" y="921841"/>
            <a:ext cx="16371391" cy="722114"/>
          </a:xfrm>
          <a:prstGeom prst="rect">
            <a:avLst/>
          </a:prstGeom>
        </p:spPr>
        <p:txBody>
          <a:bodyPr anchor="t" rtlCol="false" tIns="0" lIns="0" bIns="0" rIns="0">
            <a:spAutoFit/>
          </a:bodyPr>
          <a:lstStyle/>
          <a:p>
            <a:pPr algn="l">
              <a:lnSpc>
                <a:spcPts val="5562"/>
              </a:lnSpc>
            </a:pPr>
            <a:r>
              <a:rPr lang="en-US" sz="4437">
                <a:solidFill>
                  <a:srgbClr val="F2D4BA"/>
                </a:solidFill>
                <a:latin typeface="Prata"/>
                <a:ea typeface="Prata"/>
                <a:cs typeface="Prata"/>
                <a:sym typeface="Prata"/>
              </a:rPr>
              <a:t>Deleting Remote Branches: git push origin --delete </a:t>
            </a:r>
            <a:r>
              <a:rPr lang="en-US" sz="4437">
                <a:solidFill>
                  <a:srgbClr val="BE6841"/>
                </a:solidFill>
                <a:latin typeface="Prata"/>
                <a:ea typeface="Prata"/>
                <a:cs typeface="Prata"/>
                <a:sym typeface="Prata"/>
              </a:rPr>
              <a:t>&lt;branch&gt;</a:t>
            </a:r>
          </a:p>
        </p:txBody>
      </p:sp>
      <p:sp>
        <p:nvSpPr>
          <p:cNvPr name="TextBox 7" id="7"/>
          <p:cNvSpPr txBox="true"/>
          <p:nvPr/>
        </p:nvSpPr>
        <p:spPr>
          <a:xfrm rot="0">
            <a:off x="912019" y="2004715"/>
            <a:ext cx="16463962" cy="824805"/>
          </a:xfrm>
          <a:prstGeom prst="rect">
            <a:avLst/>
          </a:prstGeom>
        </p:spPr>
        <p:txBody>
          <a:bodyPr anchor="t" rtlCol="false" tIns="0" lIns="0" bIns="0" rIns="0">
            <a:spAutoFit/>
          </a:bodyPr>
          <a:lstStyle/>
          <a:p>
            <a:pPr algn="l">
              <a:lnSpc>
                <a:spcPts val="2812"/>
              </a:lnSpc>
            </a:pPr>
            <a:r>
              <a:rPr lang="en-US" sz="1750">
                <a:solidFill>
                  <a:srgbClr val="BDA189"/>
                </a:solidFill>
                <a:latin typeface="Arimo"/>
                <a:ea typeface="Arimo"/>
                <a:cs typeface="Arimo"/>
                <a:sym typeface="Arimo"/>
              </a:rPr>
              <a:t>After a feature branch has been successfully merged into the main branch and its purpose fulfilled, it's good practice to remove it from both your local and remote repositories. Deleting branches helps maintain a clean, organized repository and reduces clutter, making it easier to navigate the project's structure.</a:t>
            </a:r>
          </a:p>
        </p:txBody>
      </p:sp>
      <p:sp>
        <p:nvSpPr>
          <p:cNvPr name="TextBox 8" id="8"/>
          <p:cNvSpPr txBox="true"/>
          <p:nvPr/>
        </p:nvSpPr>
        <p:spPr>
          <a:xfrm rot="0">
            <a:off x="912019" y="3152478"/>
            <a:ext cx="3759101" cy="446485"/>
          </a:xfrm>
          <a:prstGeom prst="rect">
            <a:avLst/>
          </a:prstGeom>
        </p:spPr>
        <p:txBody>
          <a:bodyPr anchor="t" rtlCol="false" tIns="0" lIns="0" bIns="0" rIns="0">
            <a:spAutoFit/>
          </a:bodyPr>
          <a:lstStyle/>
          <a:p>
            <a:pPr algn="l">
              <a:lnSpc>
                <a:spcPts val="3312"/>
              </a:lnSpc>
            </a:pPr>
            <a:r>
              <a:rPr lang="en-US" sz="2687">
                <a:solidFill>
                  <a:srgbClr val="F2D4BA"/>
                </a:solidFill>
                <a:latin typeface="Prata"/>
                <a:ea typeface="Prata"/>
                <a:cs typeface="Prata"/>
                <a:sym typeface="Prata"/>
              </a:rPr>
              <a:t>Why Delete Branches?</a:t>
            </a:r>
          </a:p>
        </p:txBody>
      </p:sp>
      <p:sp>
        <p:nvSpPr>
          <p:cNvPr name="TextBox 9" id="9"/>
          <p:cNvSpPr txBox="true"/>
          <p:nvPr/>
        </p:nvSpPr>
        <p:spPr>
          <a:xfrm rot="0">
            <a:off x="912019" y="3845719"/>
            <a:ext cx="16463962" cy="460027"/>
          </a:xfrm>
          <a:prstGeom prst="rect">
            <a:avLst/>
          </a:prstGeom>
        </p:spPr>
        <p:txBody>
          <a:bodyPr anchor="t" rtlCol="false" tIns="0" lIns="0" bIns="0" rIns="0">
            <a:spAutoFit/>
          </a:bodyPr>
          <a:lstStyle/>
          <a:p>
            <a:pPr algn="l" marL="263922" indent="-131961" lvl="1">
              <a:lnSpc>
                <a:spcPts val="2812"/>
              </a:lnSpc>
              <a:buFont typeface="Arial"/>
              <a:buChar char="•"/>
            </a:pPr>
            <a:r>
              <a:rPr lang="en-US" b="true" sz="1750">
                <a:solidFill>
                  <a:srgbClr val="BDA189"/>
                </a:solidFill>
                <a:latin typeface="Arimo Bold"/>
                <a:ea typeface="Arimo Bold"/>
                <a:cs typeface="Arimo Bold"/>
                <a:sym typeface="Arimo Bold"/>
              </a:rPr>
              <a:t>Tidiness:</a:t>
            </a:r>
            <a:r>
              <a:rPr lang="en-US" sz="1750">
                <a:solidFill>
                  <a:srgbClr val="BDA189"/>
                </a:solidFill>
                <a:latin typeface="Arimo"/>
                <a:ea typeface="Arimo"/>
                <a:cs typeface="Arimo"/>
                <a:sym typeface="Arimo"/>
              </a:rPr>
              <a:t> Keeps your remote repository clean and focused on active branches.</a:t>
            </a:r>
          </a:p>
        </p:txBody>
      </p:sp>
      <p:sp>
        <p:nvSpPr>
          <p:cNvPr name="TextBox 10" id="10"/>
          <p:cNvSpPr txBox="true"/>
          <p:nvPr/>
        </p:nvSpPr>
        <p:spPr>
          <a:xfrm rot="0">
            <a:off x="912019" y="4290269"/>
            <a:ext cx="16463962" cy="460027"/>
          </a:xfrm>
          <a:prstGeom prst="rect">
            <a:avLst/>
          </a:prstGeom>
        </p:spPr>
        <p:txBody>
          <a:bodyPr anchor="t" rtlCol="false" tIns="0" lIns="0" bIns="0" rIns="0">
            <a:spAutoFit/>
          </a:bodyPr>
          <a:lstStyle/>
          <a:p>
            <a:pPr algn="l" marL="263922" indent="-131961" lvl="1">
              <a:lnSpc>
                <a:spcPts val="2812"/>
              </a:lnSpc>
              <a:buFont typeface="Arial"/>
              <a:buChar char="•"/>
            </a:pPr>
            <a:r>
              <a:rPr lang="en-US" b="true" sz="1750">
                <a:solidFill>
                  <a:srgbClr val="BDA189"/>
                </a:solidFill>
                <a:latin typeface="Arimo Bold"/>
                <a:ea typeface="Arimo Bold"/>
                <a:cs typeface="Arimo Bold"/>
                <a:sym typeface="Arimo Bold"/>
              </a:rPr>
              <a:t>Clarity:</a:t>
            </a:r>
            <a:r>
              <a:rPr lang="en-US" sz="1750">
                <a:solidFill>
                  <a:srgbClr val="BDA189"/>
                </a:solidFill>
                <a:latin typeface="Arimo"/>
                <a:ea typeface="Arimo"/>
                <a:cs typeface="Arimo"/>
                <a:sym typeface="Arimo"/>
              </a:rPr>
              <a:t> Prevents confusion by removing outdated or completed lines of development.</a:t>
            </a:r>
          </a:p>
        </p:txBody>
      </p:sp>
      <p:sp>
        <p:nvSpPr>
          <p:cNvPr name="TextBox 11" id="11"/>
          <p:cNvSpPr txBox="true"/>
          <p:nvPr/>
        </p:nvSpPr>
        <p:spPr>
          <a:xfrm rot="0">
            <a:off x="912019" y="4734818"/>
            <a:ext cx="16463962" cy="460027"/>
          </a:xfrm>
          <a:prstGeom prst="rect">
            <a:avLst/>
          </a:prstGeom>
        </p:spPr>
        <p:txBody>
          <a:bodyPr anchor="t" rtlCol="false" tIns="0" lIns="0" bIns="0" rIns="0">
            <a:spAutoFit/>
          </a:bodyPr>
          <a:lstStyle/>
          <a:p>
            <a:pPr algn="l" marL="263922" indent="-131961" lvl="1">
              <a:lnSpc>
                <a:spcPts val="2812"/>
              </a:lnSpc>
              <a:buFont typeface="Arial"/>
              <a:buChar char="•"/>
            </a:pPr>
            <a:r>
              <a:rPr lang="en-US" b="true" sz="1750">
                <a:solidFill>
                  <a:srgbClr val="BDA189"/>
                </a:solidFill>
                <a:latin typeface="Arimo Bold"/>
                <a:ea typeface="Arimo Bold"/>
                <a:cs typeface="Arimo Bold"/>
                <a:sym typeface="Arimo Bold"/>
              </a:rPr>
              <a:t>Performance:</a:t>
            </a:r>
            <a:r>
              <a:rPr lang="en-US" sz="1750">
                <a:solidFill>
                  <a:srgbClr val="BDA189"/>
                </a:solidFill>
                <a:latin typeface="Arimo"/>
                <a:ea typeface="Arimo"/>
                <a:cs typeface="Arimo"/>
                <a:sym typeface="Arimo"/>
              </a:rPr>
              <a:t> While minor, fewer branches can slightly improve Git's performance in some operations.</a:t>
            </a:r>
          </a:p>
        </p:txBody>
      </p:sp>
      <p:grpSp>
        <p:nvGrpSpPr>
          <p:cNvPr name="Group 12" id="12"/>
          <p:cNvGrpSpPr/>
          <p:nvPr/>
        </p:nvGrpSpPr>
        <p:grpSpPr>
          <a:xfrm rot="0">
            <a:off x="912019" y="5451276"/>
            <a:ext cx="16463962" cy="706785"/>
            <a:chOff x="0" y="0"/>
            <a:chExt cx="21951950" cy="942380"/>
          </a:xfrm>
        </p:grpSpPr>
        <p:sp>
          <p:nvSpPr>
            <p:cNvPr name="Freeform 13" id="13"/>
            <p:cNvSpPr/>
            <p:nvPr/>
          </p:nvSpPr>
          <p:spPr>
            <a:xfrm flipH="false" flipV="false" rot="0">
              <a:off x="0" y="0"/>
              <a:ext cx="21951950" cy="942340"/>
            </a:xfrm>
            <a:custGeom>
              <a:avLst/>
              <a:gdLst/>
              <a:ahLst/>
              <a:cxnLst/>
              <a:rect r="r" b="b" t="t" l="l"/>
              <a:pathLst>
                <a:path h="942340" w="21951950">
                  <a:moveTo>
                    <a:pt x="0" y="45593"/>
                  </a:moveTo>
                  <a:cubicBezTo>
                    <a:pt x="0" y="20447"/>
                    <a:pt x="20447" y="0"/>
                    <a:pt x="45593" y="0"/>
                  </a:cubicBezTo>
                  <a:lnTo>
                    <a:pt x="21906357" y="0"/>
                  </a:lnTo>
                  <a:cubicBezTo>
                    <a:pt x="21931503" y="0"/>
                    <a:pt x="21951950" y="20447"/>
                    <a:pt x="21951950" y="45593"/>
                  </a:cubicBezTo>
                  <a:lnTo>
                    <a:pt x="21951950" y="896747"/>
                  </a:lnTo>
                  <a:cubicBezTo>
                    <a:pt x="21951950" y="921893"/>
                    <a:pt x="21931503" y="942340"/>
                    <a:pt x="21906357" y="942340"/>
                  </a:cubicBezTo>
                  <a:lnTo>
                    <a:pt x="45593" y="942340"/>
                  </a:lnTo>
                  <a:cubicBezTo>
                    <a:pt x="20447" y="942340"/>
                    <a:pt x="0" y="922020"/>
                    <a:pt x="0" y="896747"/>
                  </a:cubicBezTo>
                  <a:close/>
                </a:path>
              </a:pathLst>
            </a:custGeom>
            <a:solidFill>
              <a:srgbClr val="2E3033"/>
            </a:solidFill>
            <a:ln w="12700">
              <a:solidFill>
                <a:srgbClr val="000000"/>
              </a:solidFill>
            </a:ln>
          </p:spPr>
        </p:sp>
      </p:grpSp>
      <p:grpSp>
        <p:nvGrpSpPr>
          <p:cNvPr name="Group 14" id="14"/>
          <p:cNvGrpSpPr/>
          <p:nvPr/>
        </p:nvGrpSpPr>
        <p:grpSpPr>
          <a:xfrm rot="0">
            <a:off x="900707" y="5451276"/>
            <a:ext cx="16486585" cy="706785"/>
            <a:chOff x="0" y="0"/>
            <a:chExt cx="21982113" cy="942380"/>
          </a:xfrm>
        </p:grpSpPr>
        <p:sp>
          <p:nvSpPr>
            <p:cNvPr name="Freeform 15" id="15"/>
            <p:cNvSpPr/>
            <p:nvPr/>
          </p:nvSpPr>
          <p:spPr>
            <a:xfrm flipH="false" flipV="false" rot="0">
              <a:off x="0" y="0"/>
              <a:ext cx="21982049" cy="942340"/>
            </a:xfrm>
            <a:custGeom>
              <a:avLst/>
              <a:gdLst/>
              <a:ahLst/>
              <a:cxnLst/>
              <a:rect r="r" b="b" t="t" l="l"/>
              <a:pathLst>
                <a:path h="942340" w="21982049">
                  <a:moveTo>
                    <a:pt x="0" y="45593"/>
                  </a:moveTo>
                  <a:cubicBezTo>
                    <a:pt x="0" y="20447"/>
                    <a:pt x="20447" y="0"/>
                    <a:pt x="45593" y="0"/>
                  </a:cubicBezTo>
                  <a:lnTo>
                    <a:pt x="21936456" y="0"/>
                  </a:lnTo>
                  <a:cubicBezTo>
                    <a:pt x="21961602" y="0"/>
                    <a:pt x="21982049" y="20447"/>
                    <a:pt x="21982049" y="45593"/>
                  </a:cubicBezTo>
                  <a:lnTo>
                    <a:pt x="21982049" y="896747"/>
                  </a:lnTo>
                  <a:cubicBezTo>
                    <a:pt x="21982049" y="921893"/>
                    <a:pt x="21961602" y="942340"/>
                    <a:pt x="21936456" y="942340"/>
                  </a:cubicBezTo>
                  <a:lnTo>
                    <a:pt x="45593" y="942340"/>
                  </a:lnTo>
                  <a:cubicBezTo>
                    <a:pt x="20447" y="942340"/>
                    <a:pt x="0" y="922020"/>
                    <a:pt x="0" y="896747"/>
                  </a:cubicBezTo>
                  <a:close/>
                </a:path>
              </a:pathLst>
            </a:custGeom>
            <a:solidFill>
              <a:srgbClr val="2E3033"/>
            </a:solidFill>
            <a:ln w="12700">
              <a:solidFill>
                <a:srgbClr val="000000"/>
              </a:solidFill>
            </a:ln>
          </p:spPr>
        </p:sp>
      </p:grpSp>
      <p:sp>
        <p:nvSpPr>
          <p:cNvPr name="TextBox 16" id="16"/>
          <p:cNvSpPr txBox="true"/>
          <p:nvPr/>
        </p:nvSpPr>
        <p:spPr>
          <a:xfrm rot="0">
            <a:off x="1128712" y="5507980"/>
            <a:ext cx="16030575" cy="479077"/>
          </a:xfrm>
          <a:prstGeom prst="rect">
            <a:avLst/>
          </a:prstGeom>
        </p:spPr>
        <p:txBody>
          <a:bodyPr anchor="t" rtlCol="false" tIns="0" lIns="0" bIns="0" rIns="0">
            <a:spAutoFit/>
          </a:bodyPr>
          <a:lstStyle/>
          <a:p>
            <a:pPr algn="l">
              <a:lnSpc>
                <a:spcPts val="2812"/>
              </a:lnSpc>
            </a:pPr>
            <a:r>
              <a:rPr lang="en-US" sz="1750">
                <a:solidFill>
                  <a:srgbClr val="BDA189"/>
                </a:solidFill>
                <a:latin typeface="Consolas"/>
                <a:ea typeface="Consolas"/>
                <a:cs typeface="Consolas"/>
                <a:sym typeface="Consolas"/>
              </a:rPr>
              <a:t>git push origin --delete feature-branch</a:t>
            </a:r>
          </a:p>
        </p:txBody>
      </p:sp>
      <p:sp>
        <p:nvSpPr>
          <p:cNvPr name="TextBox 17" id="17"/>
          <p:cNvSpPr txBox="true"/>
          <p:nvPr/>
        </p:nvSpPr>
        <p:spPr>
          <a:xfrm rot="0">
            <a:off x="912019" y="6319242"/>
            <a:ext cx="16463962" cy="824805"/>
          </a:xfrm>
          <a:prstGeom prst="rect">
            <a:avLst/>
          </a:prstGeom>
        </p:spPr>
        <p:txBody>
          <a:bodyPr anchor="t" rtlCol="false" tIns="0" lIns="0" bIns="0" rIns="0">
            <a:spAutoFit/>
          </a:bodyPr>
          <a:lstStyle/>
          <a:p>
            <a:pPr algn="l">
              <a:lnSpc>
                <a:spcPts val="2812"/>
              </a:lnSpc>
            </a:pPr>
            <a:r>
              <a:rPr lang="en-US" sz="1750">
                <a:solidFill>
                  <a:srgbClr val="BDA189"/>
                </a:solidFill>
                <a:latin typeface="Arimo"/>
                <a:ea typeface="Arimo"/>
                <a:cs typeface="Arimo"/>
                <a:sym typeface="Arimo"/>
              </a:rPr>
              <a:t>This command specifically targets the remote repository. It tells Git to delete the specified branch (feature-branch in this example) on the remote named origin.</a:t>
            </a:r>
          </a:p>
        </p:txBody>
      </p:sp>
      <p:grpSp>
        <p:nvGrpSpPr>
          <p:cNvPr name="Group 18" id="18"/>
          <p:cNvGrpSpPr/>
          <p:nvPr/>
        </p:nvGrpSpPr>
        <p:grpSpPr>
          <a:xfrm rot="0">
            <a:off x="912019" y="7400479"/>
            <a:ext cx="16463962" cy="969020"/>
            <a:chOff x="0" y="0"/>
            <a:chExt cx="21951950" cy="1292027"/>
          </a:xfrm>
        </p:grpSpPr>
        <p:sp>
          <p:nvSpPr>
            <p:cNvPr name="Freeform 19" id="19"/>
            <p:cNvSpPr/>
            <p:nvPr/>
          </p:nvSpPr>
          <p:spPr>
            <a:xfrm flipH="false" flipV="false" rot="0">
              <a:off x="0" y="0"/>
              <a:ext cx="21951950" cy="1291971"/>
            </a:xfrm>
            <a:custGeom>
              <a:avLst/>
              <a:gdLst/>
              <a:ahLst/>
              <a:cxnLst/>
              <a:rect r="r" b="b" t="t" l="l"/>
              <a:pathLst>
                <a:path h="1291971" w="21951950">
                  <a:moveTo>
                    <a:pt x="0" y="45593"/>
                  </a:moveTo>
                  <a:cubicBezTo>
                    <a:pt x="0" y="20447"/>
                    <a:pt x="20447" y="0"/>
                    <a:pt x="45593" y="0"/>
                  </a:cubicBezTo>
                  <a:lnTo>
                    <a:pt x="21906357" y="0"/>
                  </a:lnTo>
                  <a:cubicBezTo>
                    <a:pt x="21931503" y="0"/>
                    <a:pt x="21951950" y="20447"/>
                    <a:pt x="21951950" y="45593"/>
                  </a:cubicBezTo>
                  <a:lnTo>
                    <a:pt x="21951950" y="1246378"/>
                  </a:lnTo>
                  <a:cubicBezTo>
                    <a:pt x="21951950" y="1271524"/>
                    <a:pt x="21931503" y="1291971"/>
                    <a:pt x="21906357" y="1291971"/>
                  </a:cubicBezTo>
                  <a:lnTo>
                    <a:pt x="45593" y="1291971"/>
                  </a:lnTo>
                  <a:cubicBezTo>
                    <a:pt x="20447" y="1291971"/>
                    <a:pt x="0" y="1271524"/>
                    <a:pt x="0" y="1246378"/>
                  </a:cubicBezTo>
                  <a:close/>
                </a:path>
              </a:pathLst>
            </a:custGeom>
            <a:solidFill>
              <a:srgbClr val="391F13"/>
            </a:solidFill>
            <a:ln w="12700">
              <a:solidFill>
                <a:srgbClr val="000000"/>
              </a:solidFill>
            </a:ln>
          </p:spPr>
        </p:sp>
      </p:grpSp>
      <p:grpSp>
        <p:nvGrpSpPr>
          <p:cNvPr name="Group 20" id="20"/>
          <p:cNvGrpSpPr>
            <a:grpSpLocks noChangeAspect="true"/>
          </p:cNvGrpSpPr>
          <p:nvPr/>
        </p:nvGrpSpPr>
        <p:grpSpPr>
          <a:xfrm rot="0">
            <a:off x="1140024" y="7752606"/>
            <a:ext cx="285006" cy="228005"/>
            <a:chOff x="0" y="0"/>
            <a:chExt cx="380008" cy="304007"/>
          </a:xfrm>
        </p:grpSpPr>
        <p:sp>
          <p:nvSpPr>
            <p:cNvPr name="Freeform 21" id="21" descr="preencoded.png"/>
            <p:cNvSpPr/>
            <p:nvPr/>
          </p:nvSpPr>
          <p:spPr>
            <a:xfrm flipH="false" flipV="false" rot="0">
              <a:off x="0" y="0"/>
              <a:ext cx="379984" cy="304038"/>
            </a:xfrm>
            <a:custGeom>
              <a:avLst/>
              <a:gdLst/>
              <a:ahLst/>
              <a:cxnLst/>
              <a:rect r="r" b="b" t="t" l="l"/>
              <a:pathLst>
                <a:path h="304038" w="379984">
                  <a:moveTo>
                    <a:pt x="0" y="0"/>
                  </a:moveTo>
                  <a:lnTo>
                    <a:pt x="379984" y="0"/>
                  </a:lnTo>
                  <a:lnTo>
                    <a:pt x="379984" y="304038"/>
                  </a:lnTo>
                  <a:lnTo>
                    <a:pt x="0" y="304038"/>
                  </a:lnTo>
                  <a:lnTo>
                    <a:pt x="0" y="0"/>
                  </a:lnTo>
                  <a:close/>
                </a:path>
              </a:pathLst>
            </a:custGeom>
            <a:blipFill>
              <a:blip r:embed="rId3"/>
              <a:stretch>
                <a:fillRect l="0" t="0" r="-6" b="10"/>
              </a:stretch>
            </a:blipFill>
          </p:spPr>
        </p:sp>
      </p:grpSp>
      <p:sp>
        <p:nvSpPr>
          <p:cNvPr name="TextBox 22" id="22"/>
          <p:cNvSpPr txBox="true"/>
          <p:nvPr/>
        </p:nvSpPr>
        <p:spPr>
          <a:xfrm rot="0">
            <a:off x="1653034" y="7590235"/>
            <a:ext cx="15494942" cy="460027"/>
          </a:xfrm>
          <a:prstGeom prst="rect">
            <a:avLst/>
          </a:prstGeom>
        </p:spPr>
        <p:txBody>
          <a:bodyPr anchor="t" rtlCol="false" tIns="0" lIns="0" bIns="0" rIns="0">
            <a:spAutoFit/>
          </a:bodyPr>
          <a:lstStyle/>
          <a:p>
            <a:pPr algn="l">
              <a:lnSpc>
                <a:spcPts val="2812"/>
              </a:lnSpc>
            </a:pPr>
            <a:r>
              <a:rPr lang="en-US" sz="1750">
                <a:solidFill>
                  <a:srgbClr val="FFFFFF"/>
                </a:solidFill>
                <a:latin typeface="Arimo"/>
                <a:ea typeface="Arimo"/>
                <a:cs typeface="Arimo"/>
                <a:sym typeface="Arimo"/>
              </a:rPr>
              <a:t>Remember to also delete the local branch after the remote one is gone, using git branch -d feature-branch.</a:t>
            </a:r>
          </a:p>
        </p:txBody>
      </p:sp>
      <p:sp>
        <p:nvSpPr>
          <p:cNvPr name="TextBox 23" id="23"/>
          <p:cNvSpPr txBox="true"/>
          <p:nvPr/>
        </p:nvSpPr>
        <p:spPr>
          <a:xfrm rot="0">
            <a:off x="912019" y="8530679"/>
            <a:ext cx="16463962" cy="824805"/>
          </a:xfrm>
          <a:prstGeom prst="rect">
            <a:avLst/>
          </a:prstGeom>
        </p:spPr>
        <p:txBody>
          <a:bodyPr anchor="t" rtlCol="false" tIns="0" lIns="0" bIns="0" rIns="0">
            <a:spAutoFit/>
          </a:bodyPr>
          <a:lstStyle/>
          <a:p>
            <a:pPr algn="l">
              <a:lnSpc>
                <a:spcPts val="2812"/>
              </a:lnSpc>
            </a:pPr>
            <a:r>
              <a:rPr lang="en-US" sz="1750">
                <a:solidFill>
                  <a:srgbClr val="BDA189"/>
                </a:solidFill>
                <a:latin typeface="Arimo"/>
                <a:ea typeface="Arimo"/>
                <a:cs typeface="Arimo"/>
                <a:sym typeface="Arimo"/>
              </a:rPr>
              <a:t>Maintaining a tidy remote repository is a hallmark of good version control practices, ensuring that only relevant and active development lines are visible and accessible to the team.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3171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12326"/>
            </a:solidFill>
            <a:ln w="12700">
              <a:solidFill>
                <a:srgbClr val="000000"/>
              </a:solidFill>
            </a:ln>
          </p:spPr>
        </p:sp>
      </p:grpSp>
      <p:sp>
        <p:nvSpPr>
          <p:cNvPr name="TextBox 6" id="6"/>
          <p:cNvSpPr txBox="true"/>
          <p:nvPr/>
        </p:nvSpPr>
        <p:spPr>
          <a:xfrm rot="0">
            <a:off x="574179" y="499170"/>
            <a:ext cx="5142011" cy="457944"/>
          </a:xfrm>
          <a:prstGeom prst="rect">
            <a:avLst/>
          </a:prstGeom>
        </p:spPr>
        <p:txBody>
          <a:bodyPr anchor="t" rtlCol="false" tIns="0" lIns="0" bIns="0" rIns="0">
            <a:spAutoFit/>
          </a:bodyPr>
          <a:lstStyle/>
          <a:p>
            <a:pPr algn="l">
              <a:lnSpc>
                <a:spcPts val="3499"/>
              </a:lnSpc>
            </a:pPr>
            <a:r>
              <a:rPr lang="en-US" sz="2812">
                <a:solidFill>
                  <a:srgbClr val="F2D4BA"/>
                </a:solidFill>
                <a:latin typeface="Prata"/>
                <a:ea typeface="Prata"/>
                <a:cs typeface="Prata"/>
                <a:sym typeface="Prata"/>
              </a:rPr>
              <a:t>Common Workflow Summary</a:t>
            </a:r>
          </a:p>
        </p:txBody>
      </p:sp>
      <p:sp>
        <p:nvSpPr>
          <p:cNvPr name="TextBox 7" id="7"/>
          <p:cNvSpPr txBox="true"/>
          <p:nvPr/>
        </p:nvSpPr>
        <p:spPr>
          <a:xfrm rot="0">
            <a:off x="574179" y="1196579"/>
            <a:ext cx="17139642" cy="277416"/>
          </a:xfrm>
          <a:prstGeom prst="rect">
            <a:avLst/>
          </a:prstGeom>
        </p:spPr>
        <p:txBody>
          <a:bodyPr anchor="t" rtlCol="false" tIns="0" lIns="0" bIns="0" rIns="0">
            <a:spAutoFit/>
          </a:bodyPr>
          <a:lstStyle/>
          <a:p>
            <a:pPr algn="l">
              <a:lnSpc>
                <a:spcPts val="1749"/>
              </a:lnSpc>
            </a:pPr>
            <a:r>
              <a:rPr lang="en-US" sz="1124">
                <a:solidFill>
                  <a:srgbClr val="BDA189"/>
                </a:solidFill>
                <a:latin typeface="Arimo"/>
                <a:ea typeface="Arimo"/>
                <a:cs typeface="Arimo"/>
                <a:sym typeface="Arimo"/>
              </a:rPr>
              <a:t>Mastering Git involves understanding the sequence and purpose of its core commands. This summary outlines a typical workflow, guiding you through the lifecycle of changes from initial creation to remote deployment and ongoing maintenance.</a:t>
            </a:r>
          </a:p>
        </p:txBody>
      </p:sp>
      <p:grpSp>
        <p:nvGrpSpPr>
          <p:cNvPr name="Group 8" id="8"/>
          <p:cNvGrpSpPr>
            <a:grpSpLocks noChangeAspect="true"/>
          </p:cNvGrpSpPr>
          <p:nvPr/>
        </p:nvGrpSpPr>
        <p:grpSpPr>
          <a:xfrm rot="0">
            <a:off x="574179" y="1635472"/>
            <a:ext cx="717649" cy="861269"/>
            <a:chOff x="0" y="0"/>
            <a:chExt cx="956865" cy="1148358"/>
          </a:xfrm>
        </p:grpSpPr>
        <p:sp>
          <p:nvSpPr>
            <p:cNvPr name="Freeform 9" id="9" descr="preencoded.png"/>
            <p:cNvSpPr/>
            <p:nvPr/>
          </p:nvSpPr>
          <p:spPr>
            <a:xfrm flipH="false" flipV="false" rot="0">
              <a:off x="0" y="0"/>
              <a:ext cx="956818" cy="1148334"/>
            </a:xfrm>
            <a:custGeom>
              <a:avLst/>
              <a:gdLst/>
              <a:ahLst/>
              <a:cxnLst/>
              <a:rect r="r" b="b" t="t" l="l"/>
              <a:pathLst>
                <a:path h="1148334" w="956818">
                  <a:moveTo>
                    <a:pt x="0" y="0"/>
                  </a:moveTo>
                  <a:lnTo>
                    <a:pt x="956818" y="0"/>
                  </a:lnTo>
                  <a:lnTo>
                    <a:pt x="956818" y="1148334"/>
                  </a:lnTo>
                  <a:lnTo>
                    <a:pt x="0" y="1148334"/>
                  </a:lnTo>
                  <a:lnTo>
                    <a:pt x="0" y="0"/>
                  </a:lnTo>
                  <a:close/>
                </a:path>
              </a:pathLst>
            </a:custGeom>
            <a:blipFill>
              <a:blip r:embed="rId3"/>
              <a:stretch>
                <a:fillRect l="-5" t="0" r="-10" b="-2"/>
              </a:stretch>
            </a:blipFill>
          </p:spPr>
        </p:sp>
      </p:grpSp>
      <p:sp>
        <p:nvSpPr>
          <p:cNvPr name="TextBox 10" id="10"/>
          <p:cNvSpPr txBox="true"/>
          <p:nvPr/>
        </p:nvSpPr>
        <p:spPr>
          <a:xfrm rot="0">
            <a:off x="1435299" y="1740842"/>
            <a:ext cx="1794271" cy="271909"/>
          </a:xfrm>
          <a:prstGeom prst="rect">
            <a:avLst/>
          </a:prstGeom>
        </p:spPr>
        <p:txBody>
          <a:bodyPr anchor="t" rtlCol="false" tIns="0" lIns="0" bIns="0" rIns="0">
            <a:spAutoFit/>
          </a:bodyPr>
          <a:lstStyle/>
          <a:p>
            <a:pPr algn="l">
              <a:lnSpc>
                <a:spcPts val="1750"/>
              </a:lnSpc>
            </a:pPr>
            <a:r>
              <a:rPr lang="en-US" sz="1375">
                <a:solidFill>
                  <a:srgbClr val="BDA189"/>
                </a:solidFill>
                <a:latin typeface="Consolas"/>
                <a:ea typeface="Consolas"/>
                <a:cs typeface="Consolas"/>
                <a:sym typeface="Consolas"/>
              </a:rPr>
              <a:t>1. git init</a:t>
            </a:r>
          </a:p>
        </p:txBody>
      </p:sp>
      <p:sp>
        <p:nvSpPr>
          <p:cNvPr name="TextBox 11" id="11"/>
          <p:cNvSpPr txBox="true"/>
          <p:nvPr/>
        </p:nvSpPr>
        <p:spPr>
          <a:xfrm rot="0">
            <a:off x="1435299" y="2051149"/>
            <a:ext cx="16278522" cy="277416"/>
          </a:xfrm>
          <a:prstGeom prst="rect">
            <a:avLst/>
          </a:prstGeom>
        </p:spPr>
        <p:txBody>
          <a:bodyPr anchor="t" rtlCol="false" tIns="0" lIns="0" bIns="0" rIns="0">
            <a:spAutoFit/>
          </a:bodyPr>
          <a:lstStyle/>
          <a:p>
            <a:pPr algn="l">
              <a:lnSpc>
                <a:spcPts val="1749"/>
              </a:lnSpc>
            </a:pPr>
            <a:r>
              <a:rPr lang="en-US" sz="1124">
                <a:solidFill>
                  <a:srgbClr val="BDA189"/>
                </a:solidFill>
                <a:latin typeface="Arimo"/>
                <a:ea typeface="Arimo"/>
                <a:cs typeface="Arimo"/>
                <a:sym typeface="Arimo"/>
              </a:rPr>
              <a:t>Initialise a new local Git repository in your project directory to begin version control.</a:t>
            </a:r>
          </a:p>
        </p:txBody>
      </p:sp>
      <p:grpSp>
        <p:nvGrpSpPr>
          <p:cNvPr name="Group 12" id="12"/>
          <p:cNvGrpSpPr>
            <a:grpSpLocks noChangeAspect="true"/>
          </p:cNvGrpSpPr>
          <p:nvPr/>
        </p:nvGrpSpPr>
        <p:grpSpPr>
          <a:xfrm rot="0">
            <a:off x="574179" y="2496741"/>
            <a:ext cx="717649" cy="861269"/>
            <a:chOff x="0" y="0"/>
            <a:chExt cx="956865" cy="1148358"/>
          </a:xfrm>
        </p:grpSpPr>
        <p:sp>
          <p:nvSpPr>
            <p:cNvPr name="Freeform 13" id="13" descr="preencoded.png"/>
            <p:cNvSpPr/>
            <p:nvPr/>
          </p:nvSpPr>
          <p:spPr>
            <a:xfrm flipH="false" flipV="false" rot="0">
              <a:off x="0" y="0"/>
              <a:ext cx="956818" cy="1148334"/>
            </a:xfrm>
            <a:custGeom>
              <a:avLst/>
              <a:gdLst/>
              <a:ahLst/>
              <a:cxnLst/>
              <a:rect r="r" b="b" t="t" l="l"/>
              <a:pathLst>
                <a:path h="1148334" w="956818">
                  <a:moveTo>
                    <a:pt x="0" y="0"/>
                  </a:moveTo>
                  <a:lnTo>
                    <a:pt x="956818" y="0"/>
                  </a:lnTo>
                  <a:lnTo>
                    <a:pt x="956818" y="1148334"/>
                  </a:lnTo>
                  <a:lnTo>
                    <a:pt x="0" y="1148334"/>
                  </a:lnTo>
                  <a:lnTo>
                    <a:pt x="0" y="0"/>
                  </a:lnTo>
                  <a:close/>
                </a:path>
              </a:pathLst>
            </a:custGeom>
            <a:blipFill>
              <a:blip r:embed="rId4"/>
              <a:stretch>
                <a:fillRect l="-5" t="0" r="-10" b="-2"/>
              </a:stretch>
            </a:blipFill>
          </p:spPr>
        </p:sp>
      </p:grpSp>
      <p:sp>
        <p:nvSpPr>
          <p:cNvPr name="TextBox 14" id="14"/>
          <p:cNvSpPr txBox="true"/>
          <p:nvPr/>
        </p:nvSpPr>
        <p:spPr>
          <a:xfrm rot="0">
            <a:off x="1435299" y="2602111"/>
            <a:ext cx="1794271" cy="271909"/>
          </a:xfrm>
          <a:prstGeom prst="rect">
            <a:avLst/>
          </a:prstGeom>
        </p:spPr>
        <p:txBody>
          <a:bodyPr anchor="t" rtlCol="false" tIns="0" lIns="0" bIns="0" rIns="0">
            <a:spAutoFit/>
          </a:bodyPr>
          <a:lstStyle/>
          <a:p>
            <a:pPr algn="l">
              <a:lnSpc>
                <a:spcPts val="1750"/>
              </a:lnSpc>
            </a:pPr>
            <a:r>
              <a:rPr lang="en-US" sz="1375">
                <a:solidFill>
                  <a:srgbClr val="BDA189"/>
                </a:solidFill>
                <a:latin typeface="Consolas"/>
                <a:ea typeface="Consolas"/>
                <a:cs typeface="Consolas"/>
                <a:sym typeface="Consolas"/>
              </a:rPr>
              <a:t>2. git add</a:t>
            </a:r>
          </a:p>
        </p:txBody>
      </p:sp>
      <p:sp>
        <p:nvSpPr>
          <p:cNvPr name="TextBox 15" id="15"/>
          <p:cNvSpPr txBox="true"/>
          <p:nvPr/>
        </p:nvSpPr>
        <p:spPr>
          <a:xfrm rot="0">
            <a:off x="1435299" y="2912417"/>
            <a:ext cx="16278522" cy="277416"/>
          </a:xfrm>
          <a:prstGeom prst="rect">
            <a:avLst/>
          </a:prstGeom>
        </p:spPr>
        <p:txBody>
          <a:bodyPr anchor="t" rtlCol="false" tIns="0" lIns="0" bIns="0" rIns="0">
            <a:spAutoFit/>
          </a:bodyPr>
          <a:lstStyle/>
          <a:p>
            <a:pPr algn="l">
              <a:lnSpc>
                <a:spcPts val="1749"/>
              </a:lnSpc>
            </a:pPr>
            <a:r>
              <a:rPr lang="en-US" sz="1124">
                <a:solidFill>
                  <a:srgbClr val="BDA189"/>
                </a:solidFill>
                <a:latin typeface="Arimo"/>
                <a:ea typeface="Arimo"/>
                <a:cs typeface="Arimo"/>
                <a:sym typeface="Arimo"/>
              </a:rPr>
              <a:t>Stage your changes (files or modifications) to prepare them for the next commit.</a:t>
            </a:r>
          </a:p>
        </p:txBody>
      </p:sp>
      <p:grpSp>
        <p:nvGrpSpPr>
          <p:cNvPr name="Group 16" id="16"/>
          <p:cNvGrpSpPr>
            <a:grpSpLocks noChangeAspect="true"/>
          </p:cNvGrpSpPr>
          <p:nvPr/>
        </p:nvGrpSpPr>
        <p:grpSpPr>
          <a:xfrm rot="0">
            <a:off x="574179" y="3358009"/>
            <a:ext cx="717649" cy="861269"/>
            <a:chOff x="0" y="0"/>
            <a:chExt cx="956865" cy="1148358"/>
          </a:xfrm>
        </p:grpSpPr>
        <p:sp>
          <p:nvSpPr>
            <p:cNvPr name="Freeform 17" id="17" descr="preencoded.png"/>
            <p:cNvSpPr/>
            <p:nvPr/>
          </p:nvSpPr>
          <p:spPr>
            <a:xfrm flipH="false" flipV="false" rot="0">
              <a:off x="0" y="0"/>
              <a:ext cx="956818" cy="1148334"/>
            </a:xfrm>
            <a:custGeom>
              <a:avLst/>
              <a:gdLst/>
              <a:ahLst/>
              <a:cxnLst/>
              <a:rect r="r" b="b" t="t" l="l"/>
              <a:pathLst>
                <a:path h="1148334" w="956818">
                  <a:moveTo>
                    <a:pt x="0" y="0"/>
                  </a:moveTo>
                  <a:lnTo>
                    <a:pt x="956818" y="0"/>
                  </a:lnTo>
                  <a:lnTo>
                    <a:pt x="956818" y="1148334"/>
                  </a:lnTo>
                  <a:lnTo>
                    <a:pt x="0" y="1148334"/>
                  </a:lnTo>
                  <a:lnTo>
                    <a:pt x="0" y="0"/>
                  </a:lnTo>
                  <a:close/>
                </a:path>
              </a:pathLst>
            </a:custGeom>
            <a:blipFill>
              <a:blip r:embed="rId5"/>
              <a:stretch>
                <a:fillRect l="-5" t="0" r="-10" b="-2"/>
              </a:stretch>
            </a:blipFill>
          </p:spPr>
        </p:sp>
      </p:grpSp>
      <p:sp>
        <p:nvSpPr>
          <p:cNvPr name="TextBox 18" id="18"/>
          <p:cNvSpPr txBox="true"/>
          <p:nvPr/>
        </p:nvSpPr>
        <p:spPr>
          <a:xfrm rot="0">
            <a:off x="1435299" y="3463379"/>
            <a:ext cx="2530822" cy="244475"/>
          </a:xfrm>
          <a:prstGeom prst="rect">
            <a:avLst/>
          </a:prstGeom>
        </p:spPr>
        <p:txBody>
          <a:bodyPr anchor="t" rtlCol="false" tIns="0" lIns="0" bIns="0" rIns="0">
            <a:spAutoFit/>
          </a:bodyPr>
          <a:lstStyle/>
          <a:p>
            <a:pPr algn="l">
              <a:lnSpc>
                <a:spcPts val="1750"/>
              </a:lnSpc>
            </a:pPr>
            <a:r>
              <a:rPr lang="en-US" sz="1375">
                <a:solidFill>
                  <a:srgbClr val="BDA189"/>
                </a:solidFill>
                <a:latin typeface="Consolas"/>
                <a:ea typeface="Consolas"/>
                <a:cs typeface="Consolas"/>
                <a:sym typeface="Consolas"/>
              </a:rPr>
              <a:t>3. git commit -m "msg"</a:t>
            </a:r>
          </a:p>
        </p:txBody>
      </p:sp>
      <p:sp>
        <p:nvSpPr>
          <p:cNvPr name="TextBox 19" id="19"/>
          <p:cNvSpPr txBox="true"/>
          <p:nvPr/>
        </p:nvSpPr>
        <p:spPr>
          <a:xfrm rot="0">
            <a:off x="1435299" y="3771006"/>
            <a:ext cx="16278522" cy="277416"/>
          </a:xfrm>
          <a:prstGeom prst="rect">
            <a:avLst/>
          </a:prstGeom>
        </p:spPr>
        <p:txBody>
          <a:bodyPr anchor="t" rtlCol="false" tIns="0" lIns="0" bIns="0" rIns="0">
            <a:spAutoFit/>
          </a:bodyPr>
          <a:lstStyle/>
          <a:p>
            <a:pPr algn="l">
              <a:lnSpc>
                <a:spcPts val="1749"/>
              </a:lnSpc>
            </a:pPr>
            <a:r>
              <a:rPr lang="en-US" sz="1124">
                <a:solidFill>
                  <a:srgbClr val="BDA189"/>
                </a:solidFill>
                <a:latin typeface="Arimo"/>
                <a:ea typeface="Arimo"/>
                <a:cs typeface="Arimo"/>
                <a:sym typeface="Arimo"/>
              </a:rPr>
              <a:t>Save a snapshot of your staged changes with a descriptive message to your local repository'P's history.</a:t>
            </a:r>
          </a:p>
        </p:txBody>
      </p:sp>
      <p:grpSp>
        <p:nvGrpSpPr>
          <p:cNvPr name="Group 20" id="20"/>
          <p:cNvGrpSpPr>
            <a:grpSpLocks noChangeAspect="true"/>
          </p:cNvGrpSpPr>
          <p:nvPr/>
        </p:nvGrpSpPr>
        <p:grpSpPr>
          <a:xfrm rot="0">
            <a:off x="574179" y="4219277"/>
            <a:ext cx="717649" cy="861269"/>
            <a:chOff x="0" y="0"/>
            <a:chExt cx="956865" cy="1148358"/>
          </a:xfrm>
        </p:grpSpPr>
        <p:sp>
          <p:nvSpPr>
            <p:cNvPr name="Freeform 21" id="21" descr="preencoded.png"/>
            <p:cNvSpPr/>
            <p:nvPr/>
          </p:nvSpPr>
          <p:spPr>
            <a:xfrm flipH="false" flipV="false" rot="0">
              <a:off x="0" y="0"/>
              <a:ext cx="956818" cy="1148334"/>
            </a:xfrm>
            <a:custGeom>
              <a:avLst/>
              <a:gdLst/>
              <a:ahLst/>
              <a:cxnLst/>
              <a:rect r="r" b="b" t="t" l="l"/>
              <a:pathLst>
                <a:path h="1148334" w="956818">
                  <a:moveTo>
                    <a:pt x="0" y="0"/>
                  </a:moveTo>
                  <a:lnTo>
                    <a:pt x="956818" y="0"/>
                  </a:lnTo>
                  <a:lnTo>
                    <a:pt x="956818" y="1148334"/>
                  </a:lnTo>
                  <a:lnTo>
                    <a:pt x="0" y="1148334"/>
                  </a:lnTo>
                  <a:lnTo>
                    <a:pt x="0" y="0"/>
                  </a:lnTo>
                  <a:close/>
                </a:path>
              </a:pathLst>
            </a:custGeom>
            <a:blipFill>
              <a:blip r:embed="rId6"/>
              <a:stretch>
                <a:fillRect l="-5" t="0" r="-10" b="-2"/>
              </a:stretch>
            </a:blipFill>
          </p:spPr>
        </p:sp>
      </p:grpSp>
      <p:sp>
        <p:nvSpPr>
          <p:cNvPr name="TextBox 22" id="22"/>
          <p:cNvSpPr txBox="true"/>
          <p:nvPr/>
        </p:nvSpPr>
        <p:spPr>
          <a:xfrm rot="0">
            <a:off x="1435299" y="4324647"/>
            <a:ext cx="3088557" cy="244475"/>
          </a:xfrm>
          <a:prstGeom prst="rect">
            <a:avLst/>
          </a:prstGeom>
        </p:spPr>
        <p:txBody>
          <a:bodyPr anchor="t" rtlCol="false" tIns="0" lIns="0" bIns="0" rIns="0">
            <a:spAutoFit/>
          </a:bodyPr>
          <a:lstStyle/>
          <a:p>
            <a:pPr algn="l">
              <a:lnSpc>
                <a:spcPts val="1750"/>
              </a:lnSpc>
            </a:pPr>
            <a:r>
              <a:rPr lang="en-US" sz="1375">
                <a:solidFill>
                  <a:srgbClr val="BDA189"/>
                </a:solidFill>
                <a:latin typeface="Consolas"/>
                <a:ea typeface="Consolas"/>
                <a:cs typeface="Consolas"/>
                <a:sym typeface="Consolas"/>
              </a:rPr>
              <a:t>4. git remote add origin &lt;URL&gt;</a:t>
            </a:r>
          </a:p>
        </p:txBody>
      </p:sp>
      <p:sp>
        <p:nvSpPr>
          <p:cNvPr name="TextBox 23" id="23"/>
          <p:cNvSpPr txBox="true"/>
          <p:nvPr/>
        </p:nvSpPr>
        <p:spPr>
          <a:xfrm rot="0">
            <a:off x="1435299" y="4711154"/>
            <a:ext cx="16278522" cy="277416"/>
          </a:xfrm>
          <a:prstGeom prst="rect">
            <a:avLst/>
          </a:prstGeom>
        </p:spPr>
        <p:txBody>
          <a:bodyPr anchor="t" rtlCol="false" tIns="0" lIns="0" bIns="0" rIns="0">
            <a:spAutoFit/>
          </a:bodyPr>
          <a:lstStyle/>
          <a:p>
            <a:pPr algn="l">
              <a:lnSpc>
                <a:spcPts val="1749"/>
              </a:lnSpc>
            </a:pPr>
            <a:r>
              <a:rPr lang="en-US" sz="1124">
                <a:solidFill>
                  <a:srgbClr val="BDA189"/>
                </a:solidFill>
                <a:latin typeface="Arimo"/>
                <a:ea typeface="Arimo"/>
                <a:cs typeface="Arimo"/>
                <a:sym typeface="Arimo"/>
              </a:rPr>
              <a:t>Link your local repository to a remote server (e.g., GitHub) for collaboration and backup.</a:t>
            </a:r>
          </a:p>
        </p:txBody>
      </p:sp>
      <p:grpSp>
        <p:nvGrpSpPr>
          <p:cNvPr name="Group 24" id="24"/>
          <p:cNvGrpSpPr>
            <a:grpSpLocks noChangeAspect="true"/>
          </p:cNvGrpSpPr>
          <p:nvPr/>
        </p:nvGrpSpPr>
        <p:grpSpPr>
          <a:xfrm rot="0">
            <a:off x="574179" y="5080546"/>
            <a:ext cx="717649" cy="861269"/>
            <a:chOff x="0" y="0"/>
            <a:chExt cx="956865" cy="1148358"/>
          </a:xfrm>
        </p:grpSpPr>
        <p:sp>
          <p:nvSpPr>
            <p:cNvPr name="Freeform 25" id="25" descr="preencoded.png"/>
            <p:cNvSpPr/>
            <p:nvPr/>
          </p:nvSpPr>
          <p:spPr>
            <a:xfrm flipH="false" flipV="false" rot="0">
              <a:off x="0" y="0"/>
              <a:ext cx="956818" cy="1148334"/>
            </a:xfrm>
            <a:custGeom>
              <a:avLst/>
              <a:gdLst/>
              <a:ahLst/>
              <a:cxnLst/>
              <a:rect r="r" b="b" t="t" l="l"/>
              <a:pathLst>
                <a:path h="1148334" w="956818">
                  <a:moveTo>
                    <a:pt x="0" y="0"/>
                  </a:moveTo>
                  <a:lnTo>
                    <a:pt x="956818" y="0"/>
                  </a:lnTo>
                  <a:lnTo>
                    <a:pt x="956818" y="1148334"/>
                  </a:lnTo>
                  <a:lnTo>
                    <a:pt x="0" y="1148334"/>
                  </a:lnTo>
                  <a:lnTo>
                    <a:pt x="0" y="0"/>
                  </a:lnTo>
                  <a:close/>
                </a:path>
              </a:pathLst>
            </a:custGeom>
            <a:blipFill>
              <a:blip r:embed="rId7"/>
              <a:stretch>
                <a:fillRect l="-5" t="0" r="-10" b="-2"/>
              </a:stretch>
            </a:blipFill>
          </p:spPr>
        </p:sp>
      </p:grpSp>
      <p:sp>
        <p:nvSpPr>
          <p:cNvPr name="TextBox 26" id="26"/>
          <p:cNvSpPr txBox="true"/>
          <p:nvPr/>
        </p:nvSpPr>
        <p:spPr>
          <a:xfrm rot="0">
            <a:off x="1435299" y="5185916"/>
            <a:ext cx="1794271" cy="271909"/>
          </a:xfrm>
          <a:prstGeom prst="rect">
            <a:avLst/>
          </a:prstGeom>
        </p:spPr>
        <p:txBody>
          <a:bodyPr anchor="t" rtlCol="false" tIns="0" lIns="0" bIns="0" rIns="0">
            <a:spAutoFit/>
          </a:bodyPr>
          <a:lstStyle/>
          <a:p>
            <a:pPr algn="l">
              <a:lnSpc>
                <a:spcPts val="1750"/>
              </a:lnSpc>
            </a:pPr>
            <a:r>
              <a:rPr lang="en-US" sz="1375">
                <a:solidFill>
                  <a:srgbClr val="BDA189"/>
                </a:solidFill>
                <a:latin typeface="Consolas"/>
                <a:ea typeface="Consolas"/>
                <a:cs typeface="Consolas"/>
                <a:sym typeface="Consolas"/>
              </a:rPr>
              <a:t>5. git push</a:t>
            </a:r>
          </a:p>
        </p:txBody>
      </p:sp>
      <p:sp>
        <p:nvSpPr>
          <p:cNvPr name="TextBox 27" id="27"/>
          <p:cNvSpPr txBox="true"/>
          <p:nvPr/>
        </p:nvSpPr>
        <p:spPr>
          <a:xfrm rot="0">
            <a:off x="1435299" y="5496222"/>
            <a:ext cx="16278522" cy="277416"/>
          </a:xfrm>
          <a:prstGeom prst="rect">
            <a:avLst/>
          </a:prstGeom>
        </p:spPr>
        <p:txBody>
          <a:bodyPr anchor="t" rtlCol="false" tIns="0" lIns="0" bIns="0" rIns="0">
            <a:spAutoFit/>
          </a:bodyPr>
          <a:lstStyle/>
          <a:p>
            <a:pPr algn="l">
              <a:lnSpc>
                <a:spcPts val="1749"/>
              </a:lnSpc>
            </a:pPr>
            <a:r>
              <a:rPr lang="en-US" sz="1124">
                <a:solidFill>
                  <a:srgbClr val="BDA189"/>
                </a:solidFill>
                <a:latin typeface="Arimo"/>
                <a:ea typeface="Arimo"/>
                <a:cs typeface="Arimo"/>
                <a:sym typeface="Arimo"/>
              </a:rPr>
              <a:t>Upload your committed local changes to the remote repository.</a:t>
            </a:r>
          </a:p>
        </p:txBody>
      </p:sp>
      <p:grpSp>
        <p:nvGrpSpPr>
          <p:cNvPr name="Group 28" id="28"/>
          <p:cNvGrpSpPr>
            <a:grpSpLocks noChangeAspect="true"/>
          </p:cNvGrpSpPr>
          <p:nvPr/>
        </p:nvGrpSpPr>
        <p:grpSpPr>
          <a:xfrm rot="0">
            <a:off x="574179" y="5941814"/>
            <a:ext cx="717649" cy="861269"/>
            <a:chOff x="0" y="0"/>
            <a:chExt cx="956865" cy="1148358"/>
          </a:xfrm>
        </p:grpSpPr>
        <p:sp>
          <p:nvSpPr>
            <p:cNvPr name="Freeform 29" id="29" descr="preencoded.png"/>
            <p:cNvSpPr/>
            <p:nvPr/>
          </p:nvSpPr>
          <p:spPr>
            <a:xfrm flipH="false" flipV="false" rot="0">
              <a:off x="0" y="0"/>
              <a:ext cx="956818" cy="1148334"/>
            </a:xfrm>
            <a:custGeom>
              <a:avLst/>
              <a:gdLst/>
              <a:ahLst/>
              <a:cxnLst/>
              <a:rect r="r" b="b" t="t" l="l"/>
              <a:pathLst>
                <a:path h="1148334" w="956818">
                  <a:moveTo>
                    <a:pt x="0" y="0"/>
                  </a:moveTo>
                  <a:lnTo>
                    <a:pt x="956818" y="0"/>
                  </a:lnTo>
                  <a:lnTo>
                    <a:pt x="956818" y="1148334"/>
                  </a:lnTo>
                  <a:lnTo>
                    <a:pt x="0" y="1148334"/>
                  </a:lnTo>
                  <a:lnTo>
                    <a:pt x="0" y="0"/>
                  </a:lnTo>
                  <a:close/>
                </a:path>
              </a:pathLst>
            </a:custGeom>
            <a:blipFill>
              <a:blip r:embed="rId8"/>
              <a:stretch>
                <a:fillRect l="-5" t="0" r="-10" b="-2"/>
              </a:stretch>
            </a:blipFill>
          </p:spPr>
        </p:sp>
      </p:grpSp>
      <p:sp>
        <p:nvSpPr>
          <p:cNvPr name="TextBox 30" id="30"/>
          <p:cNvSpPr txBox="true"/>
          <p:nvPr/>
        </p:nvSpPr>
        <p:spPr>
          <a:xfrm rot="0">
            <a:off x="1435299" y="6047185"/>
            <a:ext cx="1794271" cy="271909"/>
          </a:xfrm>
          <a:prstGeom prst="rect">
            <a:avLst/>
          </a:prstGeom>
        </p:spPr>
        <p:txBody>
          <a:bodyPr anchor="t" rtlCol="false" tIns="0" lIns="0" bIns="0" rIns="0">
            <a:spAutoFit/>
          </a:bodyPr>
          <a:lstStyle/>
          <a:p>
            <a:pPr algn="l">
              <a:lnSpc>
                <a:spcPts val="1750"/>
              </a:lnSpc>
            </a:pPr>
            <a:r>
              <a:rPr lang="en-US" sz="1375">
                <a:solidFill>
                  <a:srgbClr val="BDA189"/>
                </a:solidFill>
                <a:latin typeface="Consolas"/>
                <a:ea typeface="Consolas"/>
                <a:cs typeface="Consolas"/>
                <a:sym typeface="Consolas"/>
              </a:rPr>
              <a:t>6. git pull</a:t>
            </a:r>
          </a:p>
        </p:txBody>
      </p:sp>
      <p:sp>
        <p:nvSpPr>
          <p:cNvPr name="TextBox 31" id="31"/>
          <p:cNvSpPr txBox="true"/>
          <p:nvPr/>
        </p:nvSpPr>
        <p:spPr>
          <a:xfrm rot="0">
            <a:off x="1435299" y="6357491"/>
            <a:ext cx="16278522" cy="277416"/>
          </a:xfrm>
          <a:prstGeom prst="rect">
            <a:avLst/>
          </a:prstGeom>
        </p:spPr>
        <p:txBody>
          <a:bodyPr anchor="t" rtlCol="false" tIns="0" lIns="0" bIns="0" rIns="0">
            <a:spAutoFit/>
          </a:bodyPr>
          <a:lstStyle/>
          <a:p>
            <a:pPr algn="l">
              <a:lnSpc>
                <a:spcPts val="1749"/>
              </a:lnSpc>
            </a:pPr>
            <a:r>
              <a:rPr lang="en-US" sz="1124">
                <a:solidFill>
                  <a:srgbClr val="BDA189"/>
                </a:solidFill>
                <a:latin typeface="Arimo"/>
                <a:ea typeface="Arimo"/>
                <a:cs typeface="Arimo"/>
                <a:sym typeface="Arimo"/>
              </a:rPr>
              <a:t>Download and merge the latest changes from the remote repository into your local branch.</a:t>
            </a:r>
          </a:p>
        </p:txBody>
      </p:sp>
      <p:grpSp>
        <p:nvGrpSpPr>
          <p:cNvPr name="Group 32" id="32"/>
          <p:cNvGrpSpPr>
            <a:grpSpLocks noChangeAspect="true"/>
          </p:cNvGrpSpPr>
          <p:nvPr/>
        </p:nvGrpSpPr>
        <p:grpSpPr>
          <a:xfrm rot="0">
            <a:off x="574179" y="6803082"/>
            <a:ext cx="717649" cy="861269"/>
            <a:chOff x="0" y="0"/>
            <a:chExt cx="956865" cy="1148358"/>
          </a:xfrm>
        </p:grpSpPr>
        <p:sp>
          <p:nvSpPr>
            <p:cNvPr name="Freeform 33" id="33" descr="preencoded.png"/>
            <p:cNvSpPr/>
            <p:nvPr/>
          </p:nvSpPr>
          <p:spPr>
            <a:xfrm flipH="false" flipV="false" rot="0">
              <a:off x="0" y="0"/>
              <a:ext cx="956818" cy="1148334"/>
            </a:xfrm>
            <a:custGeom>
              <a:avLst/>
              <a:gdLst/>
              <a:ahLst/>
              <a:cxnLst/>
              <a:rect r="r" b="b" t="t" l="l"/>
              <a:pathLst>
                <a:path h="1148334" w="956818">
                  <a:moveTo>
                    <a:pt x="0" y="0"/>
                  </a:moveTo>
                  <a:lnTo>
                    <a:pt x="956818" y="0"/>
                  </a:lnTo>
                  <a:lnTo>
                    <a:pt x="956818" y="1148334"/>
                  </a:lnTo>
                  <a:lnTo>
                    <a:pt x="0" y="1148334"/>
                  </a:lnTo>
                  <a:lnTo>
                    <a:pt x="0" y="0"/>
                  </a:lnTo>
                  <a:close/>
                </a:path>
              </a:pathLst>
            </a:custGeom>
            <a:blipFill>
              <a:blip r:embed="rId9"/>
              <a:stretch>
                <a:fillRect l="-5" t="0" r="-10" b="-2"/>
              </a:stretch>
            </a:blipFill>
          </p:spPr>
        </p:sp>
      </p:grpSp>
      <p:sp>
        <p:nvSpPr>
          <p:cNvPr name="TextBox 34" id="34"/>
          <p:cNvSpPr txBox="true"/>
          <p:nvPr/>
        </p:nvSpPr>
        <p:spPr>
          <a:xfrm rot="0">
            <a:off x="1435299" y="6908452"/>
            <a:ext cx="2908698" cy="244475"/>
          </a:xfrm>
          <a:prstGeom prst="rect">
            <a:avLst/>
          </a:prstGeom>
        </p:spPr>
        <p:txBody>
          <a:bodyPr anchor="t" rtlCol="false" tIns="0" lIns="0" bIns="0" rIns="0">
            <a:spAutoFit/>
          </a:bodyPr>
          <a:lstStyle/>
          <a:p>
            <a:pPr algn="l">
              <a:lnSpc>
                <a:spcPts val="1750"/>
              </a:lnSpc>
            </a:pPr>
            <a:r>
              <a:rPr lang="en-US" sz="1375">
                <a:solidFill>
                  <a:srgbClr val="BDA189"/>
                </a:solidFill>
                <a:latin typeface="Consolas"/>
                <a:ea typeface="Consolas"/>
                <a:cs typeface="Consolas"/>
                <a:sym typeface="Consolas"/>
              </a:rPr>
              <a:t>7. git branch + git checkout</a:t>
            </a:r>
          </a:p>
        </p:txBody>
      </p:sp>
      <p:sp>
        <p:nvSpPr>
          <p:cNvPr name="TextBox 35" id="35"/>
          <p:cNvSpPr txBox="true"/>
          <p:nvPr/>
        </p:nvSpPr>
        <p:spPr>
          <a:xfrm rot="0">
            <a:off x="1435299" y="7218760"/>
            <a:ext cx="16278522" cy="277416"/>
          </a:xfrm>
          <a:prstGeom prst="rect">
            <a:avLst/>
          </a:prstGeom>
        </p:spPr>
        <p:txBody>
          <a:bodyPr anchor="t" rtlCol="false" tIns="0" lIns="0" bIns="0" rIns="0">
            <a:spAutoFit/>
          </a:bodyPr>
          <a:lstStyle/>
          <a:p>
            <a:pPr algn="l">
              <a:lnSpc>
                <a:spcPts val="1749"/>
              </a:lnSpc>
            </a:pPr>
            <a:r>
              <a:rPr lang="en-US" sz="1124">
                <a:solidFill>
                  <a:srgbClr val="BDA189"/>
                </a:solidFill>
                <a:latin typeface="Arimo"/>
                <a:ea typeface="Arimo"/>
                <a:cs typeface="Arimo"/>
                <a:sym typeface="Arimo"/>
              </a:rPr>
              <a:t>Create and switch between branches to manage isolated lines of development.</a:t>
            </a:r>
          </a:p>
        </p:txBody>
      </p:sp>
      <p:grpSp>
        <p:nvGrpSpPr>
          <p:cNvPr name="Group 36" id="36"/>
          <p:cNvGrpSpPr>
            <a:grpSpLocks noChangeAspect="true"/>
          </p:cNvGrpSpPr>
          <p:nvPr/>
        </p:nvGrpSpPr>
        <p:grpSpPr>
          <a:xfrm rot="0">
            <a:off x="574179" y="7664351"/>
            <a:ext cx="717649" cy="861269"/>
            <a:chOff x="0" y="0"/>
            <a:chExt cx="956865" cy="1148358"/>
          </a:xfrm>
        </p:grpSpPr>
        <p:sp>
          <p:nvSpPr>
            <p:cNvPr name="Freeform 37" id="37" descr="preencoded.png"/>
            <p:cNvSpPr/>
            <p:nvPr/>
          </p:nvSpPr>
          <p:spPr>
            <a:xfrm flipH="false" flipV="false" rot="0">
              <a:off x="0" y="0"/>
              <a:ext cx="956818" cy="1148334"/>
            </a:xfrm>
            <a:custGeom>
              <a:avLst/>
              <a:gdLst/>
              <a:ahLst/>
              <a:cxnLst/>
              <a:rect r="r" b="b" t="t" l="l"/>
              <a:pathLst>
                <a:path h="1148334" w="956818">
                  <a:moveTo>
                    <a:pt x="0" y="0"/>
                  </a:moveTo>
                  <a:lnTo>
                    <a:pt x="956818" y="0"/>
                  </a:lnTo>
                  <a:lnTo>
                    <a:pt x="956818" y="1148334"/>
                  </a:lnTo>
                  <a:lnTo>
                    <a:pt x="0" y="1148334"/>
                  </a:lnTo>
                  <a:lnTo>
                    <a:pt x="0" y="0"/>
                  </a:lnTo>
                  <a:close/>
                </a:path>
              </a:pathLst>
            </a:custGeom>
            <a:blipFill>
              <a:blip r:embed="rId10"/>
              <a:stretch>
                <a:fillRect l="-5" t="0" r="-10" b="-2"/>
              </a:stretch>
            </a:blipFill>
          </p:spPr>
        </p:sp>
      </p:grpSp>
      <p:sp>
        <p:nvSpPr>
          <p:cNvPr name="TextBox 38" id="38"/>
          <p:cNvSpPr txBox="true"/>
          <p:nvPr/>
        </p:nvSpPr>
        <p:spPr>
          <a:xfrm rot="0">
            <a:off x="1435299" y="7769721"/>
            <a:ext cx="1794271" cy="271909"/>
          </a:xfrm>
          <a:prstGeom prst="rect">
            <a:avLst/>
          </a:prstGeom>
        </p:spPr>
        <p:txBody>
          <a:bodyPr anchor="t" rtlCol="false" tIns="0" lIns="0" bIns="0" rIns="0">
            <a:spAutoFit/>
          </a:bodyPr>
          <a:lstStyle/>
          <a:p>
            <a:pPr algn="l">
              <a:lnSpc>
                <a:spcPts val="1750"/>
              </a:lnSpc>
            </a:pPr>
            <a:r>
              <a:rPr lang="en-US" sz="1375">
                <a:solidFill>
                  <a:srgbClr val="BDA189"/>
                </a:solidFill>
                <a:latin typeface="Consolas"/>
                <a:ea typeface="Consolas"/>
                <a:cs typeface="Consolas"/>
                <a:sym typeface="Consolas"/>
              </a:rPr>
              <a:t>8. git merge</a:t>
            </a:r>
          </a:p>
        </p:txBody>
      </p:sp>
      <p:sp>
        <p:nvSpPr>
          <p:cNvPr name="TextBox 39" id="39"/>
          <p:cNvSpPr txBox="true"/>
          <p:nvPr/>
        </p:nvSpPr>
        <p:spPr>
          <a:xfrm rot="0">
            <a:off x="1435299" y="8080027"/>
            <a:ext cx="16278522" cy="277416"/>
          </a:xfrm>
          <a:prstGeom prst="rect">
            <a:avLst/>
          </a:prstGeom>
        </p:spPr>
        <p:txBody>
          <a:bodyPr anchor="t" rtlCol="false" tIns="0" lIns="0" bIns="0" rIns="0">
            <a:spAutoFit/>
          </a:bodyPr>
          <a:lstStyle/>
          <a:p>
            <a:pPr algn="l">
              <a:lnSpc>
                <a:spcPts val="1749"/>
              </a:lnSpc>
            </a:pPr>
            <a:r>
              <a:rPr lang="en-US" sz="1124">
                <a:solidFill>
                  <a:srgbClr val="BDA189"/>
                </a:solidFill>
                <a:latin typeface="Arimo"/>
                <a:ea typeface="Arimo"/>
                <a:cs typeface="Arimo"/>
                <a:sym typeface="Arimo"/>
              </a:rPr>
              <a:t>Integrate changes from one branch into another, resolving any conflicts that may arise.</a:t>
            </a:r>
          </a:p>
        </p:txBody>
      </p:sp>
      <p:grpSp>
        <p:nvGrpSpPr>
          <p:cNvPr name="Group 40" id="40"/>
          <p:cNvGrpSpPr>
            <a:grpSpLocks noChangeAspect="true"/>
          </p:cNvGrpSpPr>
          <p:nvPr/>
        </p:nvGrpSpPr>
        <p:grpSpPr>
          <a:xfrm rot="0">
            <a:off x="574179" y="8525619"/>
            <a:ext cx="717649" cy="861269"/>
            <a:chOff x="0" y="0"/>
            <a:chExt cx="956865" cy="1148358"/>
          </a:xfrm>
        </p:grpSpPr>
        <p:sp>
          <p:nvSpPr>
            <p:cNvPr name="Freeform 41" id="41" descr="preencoded.png"/>
            <p:cNvSpPr/>
            <p:nvPr/>
          </p:nvSpPr>
          <p:spPr>
            <a:xfrm flipH="false" flipV="false" rot="0">
              <a:off x="0" y="0"/>
              <a:ext cx="956818" cy="1148334"/>
            </a:xfrm>
            <a:custGeom>
              <a:avLst/>
              <a:gdLst/>
              <a:ahLst/>
              <a:cxnLst/>
              <a:rect r="r" b="b" t="t" l="l"/>
              <a:pathLst>
                <a:path h="1148334" w="956818">
                  <a:moveTo>
                    <a:pt x="0" y="0"/>
                  </a:moveTo>
                  <a:lnTo>
                    <a:pt x="956818" y="0"/>
                  </a:lnTo>
                  <a:lnTo>
                    <a:pt x="956818" y="1148334"/>
                  </a:lnTo>
                  <a:lnTo>
                    <a:pt x="0" y="1148334"/>
                  </a:lnTo>
                  <a:lnTo>
                    <a:pt x="0" y="0"/>
                  </a:lnTo>
                  <a:close/>
                </a:path>
              </a:pathLst>
            </a:custGeom>
            <a:blipFill>
              <a:blip r:embed="rId11"/>
              <a:stretch>
                <a:fillRect l="-5" t="0" r="-10" b="-2"/>
              </a:stretch>
            </a:blipFill>
          </p:spPr>
        </p:sp>
      </p:grpSp>
      <p:sp>
        <p:nvSpPr>
          <p:cNvPr name="TextBox 42" id="42"/>
          <p:cNvSpPr txBox="true"/>
          <p:nvPr/>
        </p:nvSpPr>
        <p:spPr>
          <a:xfrm rot="0">
            <a:off x="1435299" y="8630990"/>
            <a:ext cx="3673000" cy="244475"/>
          </a:xfrm>
          <a:prstGeom prst="rect">
            <a:avLst/>
          </a:prstGeom>
        </p:spPr>
        <p:txBody>
          <a:bodyPr anchor="t" rtlCol="false" tIns="0" lIns="0" bIns="0" rIns="0">
            <a:spAutoFit/>
          </a:bodyPr>
          <a:lstStyle/>
          <a:p>
            <a:pPr algn="l">
              <a:lnSpc>
                <a:spcPts val="1750"/>
              </a:lnSpc>
            </a:pPr>
            <a:r>
              <a:rPr lang="en-US" sz="1375">
                <a:solidFill>
                  <a:srgbClr val="BDA189"/>
                </a:solidFill>
                <a:latin typeface="Consolas"/>
                <a:ea typeface="Consolas"/>
                <a:cs typeface="Consolas"/>
                <a:sym typeface="Consolas"/>
              </a:rPr>
              <a:t>9. git push origin --delete &lt;branch&gt;</a:t>
            </a:r>
          </a:p>
        </p:txBody>
      </p:sp>
      <p:sp>
        <p:nvSpPr>
          <p:cNvPr name="TextBox 43" id="43"/>
          <p:cNvSpPr txBox="true"/>
          <p:nvPr/>
        </p:nvSpPr>
        <p:spPr>
          <a:xfrm rot="0">
            <a:off x="1435299" y="8941296"/>
            <a:ext cx="16278522" cy="277416"/>
          </a:xfrm>
          <a:prstGeom prst="rect">
            <a:avLst/>
          </a:prstGeom>
        </p:spPr>
        <p:txBody>
          <a:bodyPr anchor="t" rtlCol="false" tIns="0" lIns="0" bIns="0" rIns="0">
            <a:spAutoFit/>
          </a:bodyPr>
          <a:lstStyle/>
          <a:p>
            <a:pPr algn="l">
              <a:lnSpc>
                <a:spcPts val="1749"/>
              </a:lnSpc>
            </a:pPr>
            <a:r>
              <a:rPr lang="en-US" sz="1124">
                <a:solidFill>
                  <a:srgbClr val="BDA189"/>
                </a:solidFill>
                <a:latin typeface="Arimo"/>
                <a:ea typeface="Arimo"/>
                <a:cs typeface="Arimo"/>
                <a:sym typeface="Arimo"/>
              </a:rPr>
              <a:t>Remove a branch from the remote repository after it has been merged and is no longer needed.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DAG62MnJeZo</dc:identifier>
  <dcterms:modified xsi:type="dcterms:W3CDTF">2011-08-01T06:04:30Z</dcterms:modified>
  <cp:revision>1</cp:revision>
  <dc:title>Git-Transactions-From-Local-to-Remote-and-Back.pptx</dc:title>
</cp:coreProperties>
</file>